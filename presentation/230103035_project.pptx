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50" d="100"/>
          <a:sy n="150" d="100"/>
        </p:scale>
        <p:origin x="-7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itesh Raj" userId="dad7672f20da19cd" providerId="LiveId" clId="{B5B4FC58-AAFE-4326-BD81-BE5EC139AC57}"/>
    <pc:docChg chg="undo custSel modSld">
      <pc:chgData name="Pritesh Raj" userId="dad7672f20da19cd" providerId="LiveId" clId="{B5B4FC58-AAFE-4326-BD81-BE5EC139AC57}" dt="2026-04-30T03:30:19.958" v="46" actId="20577"/>
      <pc:docMkLst>
        <pc:docMk/>
      </pc:docMkLst>
      <pc:sldChg chg="delSp modSp mod">
        <pc:chgData name="Pritesh Raj" userId="dad7672f20da19cd" providerId="LiveId" clId="{B5B4FC58-AAFE-4326-BD81-BE5EC139AC57}" dt="2026-04-30T03:27:04.758" v="23" actId="14100"/>
        <pc:sldMkLst>
          <pc:docMk/>
          <pc:sldMk cId="0" sldId="256"/>
        </pc:sldMkLst>
        <pc:spChg chg="del">
          <ac:chgData name="Pritesh Raj" userId="dad7672f20da19cd" providerId="LiveId" clId="{B5B4FC58-AAFE-4326-BD81-BE5EC139AC57}" dt="2026-04-30T03:26:20.918" v="1" actId="478"/>
          <ac:spMkLst>
            <pc:docMk/>
            <pc:sldMk cId="0" sldId="256"/>
            <ac:spMk id="2" creationId="{00000000-0000-0000-0000-000000000000}"/>
          </ac:spMkLst>
        </pc:spChg>
        <pc:spChg chg="mod">
          <ac:chgData name="Pritesh Raj" userId="dad7672f20da19cd" providerId="LiveId" clId="{B5B4FC58-AAFE-4326-BD81-BE5EC139AC57}" dt="2026-04-30T03:26:27.510" v="20" actId="20577"/>
          <ac:spMkLst>
            <pc:docMk/>
            <pc:sldMk cId="0" sldId="256"/>
            <ac:spMk id="5" creationId="{00000000-0000-0000-0000-000000000000}"/>
          </ac:spMkLst>
        </pc:spChg>
        <pc:spChg chg="mod">
          <ac:chgData name="Pritesh Raj" userId="dad7672f20da19cd" providerId="LiveId" clId="{B5B4FC58-AAFE-4326-BD81-BE5EC139AC57}" dt="2026-04-30T03:26:54.425" v="22" actId="14100"/>
          <ac:spMkLst>
            <pc:docMk/>
            <pc:sldMk cId="0" sldId="256"/>
            <ac:spMk id="6" creationId="{00000000-0000-0000-0000-000000000000}"/>
          </ac:spMkLst>
        </pc:spChg>
        <pc:spChg chg="mod">
          <ac:chgData name="Pritesh Raj" userId="dad7672f20da19cd" providerId="LiveId" clId="{B5B4FC58-AAFE-4326-BD81-BE5EC139AC57}" dt="2026-04-30T03:27:04.758" v="23" actId="14100"/>
          <ac:spMkLst>
            <pc:docMk/>
            <pc:sldMk cId="0" sldId="256"/>
            <ac:spMk id="7" creationId="{00000000-0000-0000-0000-000000000000}"/>
          </ac:spMkLst>
        </pc:spChg>
      </pc:sldChg>
      <pc:sldChg chg="addSp delSp modSp mod">
        <pc:chgData name="Pritesh Raj" userId="dad7672f20da19cd" providerId="LiveId" clId="{B5B4FC58-AAFE-4326-BD81-BE5EC139AC57}" dt="2026-04-30T03:30:19.958" v="46" actId="20577"/>
        <pc:sldMkLst>
          <pc:docMk/>
          <pc:sldMk cId="0" sldId="259"/>
        </pc:sldMkLst>
        <pc:spChg chg="mod">
          <ac:chgData name="Pritesh Raj" userId="dad7672f20da19cd" providerId="LiveId" clId="{B5B4FC58-AAFE-4326-BD81-BE5EC139AC57}" dt="2026-04-30T03:27:52.286" v="26" actId="20577"/>
          <ac:spMkLst>
            <pc:docMk/>
            <pc:sldMk cId="0" sldId="259"/>
            <ac:spMk id="9" creationId="{00000000-0000-0000-0000-000000000000}"/>
          </ac:spMkLst>
        </pc:spChg>
        <pc:spChg chg="mod">
          <ac:chgData name="Pritesh Raj" userId="dad7672f20da19cd" providerId="LiveId" clId="{B5B4FC58-AAFE-4326-BD81-BE5EC139AC57}" dt="2026-04-30T03:30:15.888" v="44" actId="20577"/>
          <ac:spMkLst>
            <pc:docMk/>
            <pc:sldMk cId="0" sldId="259"/>
            <ac:spMk id="13" creationId="{00000000-0000-0000-0000-000000000000}"/>
          </ac:spMkLst>
        </pc:spChg>
        <pc:spChg chg="mod">
          <ac:chgData name="Pritesh Raj" userId="dad7672f20da19cd" providerId="LiveId" clId="{B5B4FC58-AAFE-4326-BD81-BE5EC139AC57}" dt="2026-04-30T03:30:18.093" v="45" actId="20577"/>
          <ac:spMkLst>
            <pc:docMk/>
            <pc:sldMk cId="0" sldId="259"/>
            <ac:spMk id="17" creationId="{00000000-0000-0000-0000-000000000000}"/>
          </ac:spMkLst>
        </pc:spChg>
        <pc:spChg chg="mod">
          <ac:chgData name="Pritesh Raj" userId="dad7672f20da19cd" providerId="LiveId" clId="{B5B4FC58-AAFE-4326-BD81-BE5EC139AC57}" dt="2026-04-30T03:30:19.958" v="46" actId="20577"/>
          <ac:spMkLst>
            <pc:docMk/>
            <pc:sldMk cId="0" sldId="259"/>
            <ac:spMk id="21" creationId="{00000000-0000-0000-0000-000000000000}"/>
          </ac:spMkLst>
        </pc:spChg>
        <pc:cxnChg chg="add del mod">
          <ac:chgData name="Pritesh Raj" userId="dad7672f20da19cd" providerId="LiveId" clId="{B5B4FC58-AAFE-4326-BD81-BE5EC139AC57}" dt="2026-04-30T03:30:00.088" v="43" actId="21"/>
          <ac:cxnSpMkLst>
            <pc:docMk/>
            <pc:sldMk cId="0" sldId="259"/>
            <ac:cxnSpMk id="52" creationId="{6C079543-6152-562D-AE50-67D74FF973C5}"/>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8047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4F4"/>
        </a:solidFill>
        <a:effectLst/>
      </p:bgPr>
    </p:bg>
    <p:spTree>
      <p:nvGrpSpPr>
        <p:cNvPr id="1" name=""/>
        <p:cNvGrpSpPr/>
        <p:nvPr/>
      </p:nvGrpSpPr>
      <p:grpSpPr>
        <a:xfrm>
          <a:off x="0" y="0"/>
          <a:ext cx="0" cy="0"/>
          <a:chOff x="0" y="0"/>
          <a:chExt cx="0" cy="0"/>
        </a:xfrm>
      </p:grpSpPr>
      <p:sp>
        <p:nvSpPr>
          <p:cNvPr id="3" name="Shape 1"/>
          <p:cNvSpPr/>
          <p:nvPr/>
        </p:nvSpPr>
        <p:spPr>
          <a:xfrm>
            <a:off x="0" y="0"/>
            <a:ext cx="109728" cy="5143500"/>
          </a:xfrm>
          <a:prstGeom prst="rect">
            <a:avLst/>
          </a:prstGeom>
          <a:solidFill>
            <a:srgbClr val="1F3864"/>
          </a:solidFill>
          <a:ln/>
        </p:spPr>
      </p:sp>
      <p:sp>
        <p:nvSpPr>
          <p:cNvPr id="5" name="Text 3"/>
          <p:cNvSpPr/>
          <p:nvPr/>
        </p:nvSpPr>
        <p:spPr>
          <a:xfrm>
            <a:off x="320040" y="457200"/>
            <a:ext cx="8229600" cy="365760"/>
          </a:xfrm>
          <a:prstGeom prst="rect">
            <a:avLst/>
          </a:prstGeom>
          <a:noFill/>
          <a:ln/>
        </p:spPr>
        <p:txBody>
          <a:bodyPr wrap="square" rtlCol="0" anchor="ctr"/>
          <a:lstStyle/>
          <a:p>
            <a:pPr marL="0" indent="0">
              <a:buNone/>
            </a:pPr>
            <a:endParaRPr lang="en-US" sz="1300" dirty="0"/>
          </a:p>
        </p:txBody>
      </p:sp>
      <p:sp>
        <p:nvSpPr>
          <p:cNvPr id="6" name="Text 4"/>
          <p:cNvSpPr/>
          <p:nvPr/>
        </p:nvSpPr>
        <p:spPr>
          <a:xfrm>
            <a:off x="320040" y="-30420"/>
            <a:ext cx="8229600" cy="2224102"/>
          </a:xfrm>
          <a:prstGeom prst="rect">
            <a:avLst/>
          </a:prstGeom>
          <a:noFill/>
          <a:ln/>
        </p:spPr>
        <p:txBody>
          <a:bodyPr wrap="square" rtlCol="0" anchor="ctr"/>
          <a:lstStyle/>
          <a:p>
            <a:pPr marL="0" indent="0">
              <a:lnSpc>
                <a:spcPct val="110000"/>
              </a:lnSpc>
              <a:buNone/>
            </a:pPr>
            <a:r>
              <a:rPr lang="en-US" sz="3400" b="1" dirty="0">
                <a:solidFill>
                  <a:srgbClr val="1F3864"/>
                </a:solidFill>
              </a:rPr>
              <a:t>AI-Powered Dual Disease</a:t>
            </a:r>
            <a:endParaRPr lang="en-US" sz="3400" dirty="0"/>
          </a:p>
          <a:p>
            <a:pPr marL="0" indent="0">
              <a:lnSpc>
                <a:spcPct val="110000"/>
              </a:lnSpc>
              <a:buNone/>
            </a:pPr>
            <a:r>
              <a:rPr lang="en-US" sz="3400" b="1" dirty="0">
                <a:solidFill>
                  <a:srgbClr val="1F3864"/>
                </a:solidFill>
              </a:rPr>
              <a:t>Prediction System</a:t>
            </a:r>
            <a:endParaRPr lang="en-US" sz="3400" dirty="0"/>
          </a:p>
        </p:txBody>
      </p:sp>
      <p:sp>
        <p:nvSpPr>
          <p:cNvPr id="7" name="Text 5"/>
          <p:cNvSpPr/>
          <p:nvPr/>
        </p:nvSpPr>
        <p:spPr>
          <a:xfrm>
            <a:off x="320040" y="2092569"/>
            <a:ext cx="7315200" cy="806079"/>
          </a:xfrm>
          <a:prstGeom prst="rect">
            <a:avLst/>
          </a:prstGeom>
          <a:noFill/>
          <a:ln/>
        </p:spPr>
        <p:txBody>
          <a:bodyPr wrap="square" rtlCol="0" anchor="ctr"/>
          <a:lstStyle/>
          <a:p>
            <a:pPr marL="0" indent="0">
              <a:buNone/>
            </a:pPr>
            <a:r>
              <a:rPr lang="en-US" sz="1400" dirty="0">
                <a:solidFill>
                  <a:srgbClr val="2E5C9E"/>
                </a:solidFill>
              </a:rPr>
              <a:t>Diabetes and 10-Year CHD Risk Using Ensemble Learning</a:t>
            </a:r>
            <a:endParaRPr lang="en-US" sz="1400" dirty="0"/>
          </a:p>
        </p:txBody>
      </p:sp>
      <p:sp>
        <p:nvSpPr>
          <p:cNvPr id="8" name="Shape 6"/>
          <p:cNvSpPr/>
          <p:nvPr/>
        </p:nvSpPr>
        <p:spPr>
          <a:xfrm>
            <a:off x="320040" y="2999232"/>
            <a:ext cx="8503920" cy="9144"/>
          </a:xfrm>
          <a:prstGeom prst="rect">
            <a:avLst/>
          </a:prstGeom>
          <a:solidFill>
            <a:srgbClr val="CCCCCC"/>
          </a:solidFill>
          <a:ln/>
        </p:spPr>
      </p:sp>
      <p:sp>
        <p:nvSpPr>
          <p:cNvPr id="9" name="Text 7"/>
          <p:cNvSpPr/>
          <p:nvPr/>
        </p:nvSpPr>
        <p:spPr>
          <a:xfrm>
            <a:off x="320040" y="3127248"/>
            <a:ext cx="8229600" cy="274320"/>
          </a:xfrm>
          <a:prstGeom prst="rect">
            <a:avLst/>
          </a:prstGeom>
          <a:noFill/>
          <a:ln/>
        </p:spPr>
        <p:txBody>
          <a:bodyPr wrap="square" rtlCol="0" anchor="ctr"/>
          <a:lstStyle/>
          <a:p>
            <a:pPr marL="0" indent="0">
              <a:buNone/>
            </a:pPr>
            <a:r>
              <a:rPr lang="en-US" sz="1100" b="1" dirty="0">
                <a:solidFill>
                  <a:srgbClr val="444444"/>
                </a:solidFill>
              </a:rPr>
              <a:t>Submitted by: </a:t>
            </a:r>
            <a:r>
              <a:rPr lang="en-US" sz="1100" dirty="0">
                <a:solidFill>
                  <a:srgbClr val="444444"/>
                </a:solidFill>
              </a:rPr>
              <a:t>Pritesh Raj  |  230103035</a:t>
            </a:r>
            <a:endParaRPr lang="en-US" sz="1100" dirty="0"/>
          </a:p>
        </p:txBody>
      </p:sp>
      <p:sp>
        <p:nvSpPr>
          <p:cNvPr id="10" name="Text 8"/>
          <p:cNvSpPr/>
          <p:nvPr/>
        </p:nvSpPr>
        <p:spPr>
          <a:xfrm>
            <a:off x="320040" y="3438144"/>
            <a:ext cx="8229600" cy="274320"/>
          </a:xfrm>
          <a:prstGeom prst="rect">
            <a:avLst/>
          </a:prstGeom>
          <a:noFill/>
          <a:ln/>
        </p:spPr>
        <p:txBody>
          <a:bodyPr wrap="square" rtlCol="0" anchor="ctr"/>
          <a:lstStyle/>
          <a:p>
            <a:pPr marL="0" indent="0">
              <a:buNone/>
            </a:pPr>
            <a:r>
              <a:rPr lang="en-US" sz="1100" b="1" dirty="0">
                <a:solidFill>
                  <a:srgbClr val="444444"/>
                </a:solidFill>
              </a:rPr>
              <a:t>Department: </a:t>
            </a:r>
            <a:r>
              <a:rPr lang="en-US" sz="1100" dirty="0">
                <a:solidFill>
                  <a:srgbClr val="444444"/>
                </a:solidFill>
              </a:rPr>
              <a:t>CSE (Artificial Intelligence &amp; Data Science)</a:t>
            </a:r>
            <a:endParaRPr lang="en-US" sz="1100" dirty="0"/>
          </a:p>
        </p:txBody>
      </p:sp>
      <p:sp>
        <p:nvSpPr>
          <p:cNvPr id="11" name="Text 9"/>
          <p:cNvSpPr/>
          <p:nvPr/>
        </p:nvSpPr>
        <p:spPr>
          <a:xfrm>
            <a:off x="320040" y="3749040"/>
            <a:ext cx="8229600" cy="274320"/>
          </a:xfrm>
          <a:prstGeom prst="rect">
            <a:avLst/>
          </a:prstGeom>
          <a:noFill/>
          <a:ln/>
        </p:spPr>
        <p:txBody>
          <a:bodyPr wrap="square" rtlCol="0" anchor="ctr"/>
          <a:lstStyle/>
          <a:p>
            <a:pPr marL="0" indent="0">
              <a:buNone/>
            </a:pPr>
            <a:r>
              <a:rPr lang="en-US" sz="1100" b="1" dirty="0">
                <a:solidFill>
                  <a:srgbClr val="444444"/>
                </a:solidFill>
              </a:rPr>
              <a:t>Supervisor: </a:t>
            </a:r>
            <a:r>
              <a:rPr lang="en-US" sz="1100" dirty="0">
                <a:solidFill>
                  <a:srgbClr val="444444"/>
                </a:solidFill>
              </a:rPr>
              <a:t>Dr. Nongmeikapam Kishorjit Singh</a:t>
            </a:r>
            <a:endParaRPr lang="en-US" sz="1100" dirty="0"/>
          </a:p>
        </p:txBody>
      </p:sp>
      <p:sp>
        <p:nvSpPr>
          <p:cNvPr id="12" name="Text 10"/>
          <p:cNvSpPr/>
          <p:nvPr/>
        </p:nvSpPr>
        <p:spPr>
          <a:xfrm>
            <a:off x="320040" y="4059936"/>
            <a:ext cx="8229600" cy="274320"/>
          </a:xfrm>
          <a:prstGeom prst="rect">
            <a:avLst/>
          </a:prstGeom>
          <a:noFill/>
          <a:ln/>
        </p:spPr>
        <p:txBody>
          <a:bodyPr wrap="square" rtlCol="0" anchor="ctr"/>
          <a:lstStyle/>
          <a:p>
            <a:pPr marL="0" indent="0">
              <a:buNone/>
            </a:pPr>
            <a:r>
              <a:rPr lang="en-US" sz="1100" b="1" dirty="0">
                <a:solidFill>
                  <a:srgbClr val="444444"/>
                </a:solidFill>
              </a:rPr>
              <a:t>Institution: </a:t>
            </a:r>
            <a:r>
              <a:rPr lang="en-US" sz="1100" dirty="0">
                <a:solidFill>
                  <a:srgbClr val="444444"/>
                </a:solidFill>
              </a:rPr>
              <a:t>IIIT Senapati, Manipur  |  April 2026  |  B.Tech Project-I (CS3201)</a:t>
            </a:r>
            <a:endParaRPr lang="en-US" sz="1100" dirty="0"/>
          </a:p>
        </p:txBody>
      </p:sp>
      <p:sp>
        <p:nvSpPr>
          <p:cNvPr id="13" name="Text 11"/>
          <p:cNvSpPr/>
          <p:nvPr/>
        </p:nvSpPr>
        <p:spPr>
          <a:xfrm>
            <a:off x="0" y="4846320"/>
            <a:ext cx="9144000" cy="297180"/>
          </a:xfrm>
          <a:prstGeom prst="rect">
            <a:avLst/>
          </a:prstGeom>
          <a:noFill/>
          <a:ln/>
        </p:spPr>
        <p:txBody>
          <a:bodyPr wrap="square" rtlCol="0" anchor="ctr"/>
          <a:lstStyle/>
          <a:p>
            <a:pPr marL="0" indent="0" algn="ctr">
              <a:buNone/>
            </a:pPr>
            <a:r>
              <a:rPr lang="en-US" sz="800" dirty="0">
                <a:solidFill>
                  <a:srgbClr val="FFFFFF"/>
                </a:solidFill>
              </a:rPr>
              <a:t>Pritesh Raj  |  230103035  |  B.Tech CSE (AI &amp; DS)  |  IIIT Senapati, Manipur</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F3864"/>
          </a:solidFill>
          <a:ln/>
        </p:spPr>
      </p:sp>
      <p:sp>
        <p:nvSpPr>
          <p:cNvPr id="3" name="Text 1"/>
          <p:cNvSpPr/>
          <p:nvPr/>
        </p:nvSpPr>
        <p:spPr>
          <a:xfrm>
            <a:off x="320040" y="91440"/>
            <a:ext cx="7772400" cy="457200"/>
          </a:xfrm>
          <a:prstGeom prst="rect">
            <a:avLst/>
          </a:prstGeom>
          <a:noFill/>
          <a:ln/>
        </p:spPr>
        <p:txBody>
          <a:bodyPr wrap="square" rtlCol="0" anchor="ctr"/>
          <a:lstStyle/>
          <a:p>
            <a:pPr marL="0" indent="0">
              <a:buNone/>
            </a:pPr>
            <a:r>
              <a:rPr lang="en-US" sz="2000" b="1" dirty="0">
                <a:solidFill>
                  <a:srgbClr val="FFFFFF"/>
                </a:solidFill>
              </a:rPr>
              <a:t>Introduction &amp; Motivation</a:t>
            </a:r>
            <a:endParaRPr lang="en-US" sz="2000" dirty="0"/>
          </a:p>
        </p:txBody>
      </p:sp>
      <p:sp>
        <p:nvSpPr>
          <p:cNvPr id="4" name="Text 2"/>
          <p:cNvSpPr/>
          <p:nvPr/>
        </p:nvSpPr>
        <p:spPr>
          <a:xfrm>
            <a:off x="7772400" y="182880"/>
            <a:ext cx="1234440" cy="274320"/>
          </a:xfrm>
          <a:prstGeom prst="rect">
            <a:avLst/>
          </a:prstGeom>
          <a:noFill/>
          <a:ln/>
        </p:spPr>
        <p:txBody>
          <a:bodyPr wrap="square" rtlCol="0" anchor="ctr"/>
          <a:lstStyle/>
          <a:p>
            <a:pPr marL="0" indent="0" algn="r">
              <a:buNone/>
            </a:pPr>
            <a:endParaRPr lang="en-US" sz="800" dirty="0"/>
          </a:p>
        </p:txBody>
      </p:sp>
      <p:sp>
        <p:nvSpPr>
          <p:cNvPr id="5" name="Text 3"/>
          <p:cNvSpPr/>
          <p:nvPr/>
        </p:nvSpPr>
        <p:spPr>
          <a:xfrm>
            <a:off x="320040" y="777240"/>
            <a:ext cx="8229600" cy="320040"/>
          </a:xfrm>
          <a:prstGeom prst="rect">
            <a:avLst/>
          </a:prstGeom>
          <a:noFill/>
          <a:ln/>
        </p:spPr>
        <p:txBody>
          <a:bodyPr wrap="square" rtlCol="0" anchor="ctr"/>
          <a:lstStyle/>
          <a:p>
            <a:pPr marL="0" indent="0">
              <a:buNone/>
            </a:pPr>
            <a:r>
              <a:rPr lang="en-US" sz="1300" b="1" dirty="0">
                <a:solidFill>
                  <a:srgbClr val="1F3864"/>
                </a:solidFill>
              </a:rPr>
              <a:t>Problem Statement</a:t>
            </a:r>
            <a:endParaRPr lang="en-US" sz="1300" dirty="0"/>
          </a:p>
        </p:txBody>
      </p:sp>
      <p:sp>
        <p:nvSpPr>
          <p:cNvPr id="6" name="Text 4"/>
          <p:cNvSpPr/>
          <p:nvPr/>
        </p:nvSpPr>
        <p:spPr>
          <a:xfrm>
            <a:off x="320040" y="1133856"/>
            <a:ext cx="8503920" cy="914400"/>
          </a:xfrm>
          <a:prstGeom prst="rect">
            <a:avLst/>
          </a:prstGeom>
          <a:noFill/>
          <a:ln/>
        </p:spPr>
        <p:txBody>
          <a:bodyPr wrap="square" rtlCol="0" anchor="ctr"/>
          <a:lstStyle/>
          <a:p>
            <a:pPr marL="0" indent="0" algn="just">
              <a:lnSpc>
                <a:spcPct val="140000"/>
              </a:lnSpc>
              <a:buNone/>
            </a:pPr>
            <a:r>
              <a:rPr lang="en-US" sz="1050" dirty="0">
                <a:solidFill>
                  <a:srgbClr val="444444"/>
                </a:solidFill>
              </a:rPr>
              <a:t>Diabetes and coronary heart disease are two of the most prevalent chronic conditions worldwide. 537 million adults have diabetes (IDF, 2021) and cardiovascular diseases cause 17.9 million deaths annually (WHO). In India alone, 77 million people are diabetic. Existing systems address only one disease at a time, provide binary outputs without risk scoring, and lack personalised guidance.</a:t>
            </a:r>
            <a:endParaRPr lang="en-US" sz="1050" dirty="0"/>
          </a:p>
        </p:txBody>
      </p:sp>
      <p:sp>
        <p:nvSpPr>
          <p:cNvPr id="7" name="Shape 5"/>
          <p:cNvSpPr/>
          <p:nvPr/>
        </p:nvSpPr>
        <p:spPr>
          <a:xfrm>
            <a:off x="320040" y="2148840"/>
            <a:ext cx="8503920" cy="9144"/>
          </a:xfrm>
          <a:prstGeom prst="rect">
            <a:avLst/>
          </a:prstGeom>
          <a:solidFill>
            <a:srgbClr val="CCCCCC"/>
          </a:solidFill>
          <a:ln/>
        </p:spPr>
      </p:sp>
      <p:sp>
        <p:nvSpPr>
          <p:cNvPr id="8" name="Text 6"/>
          <p:cNvSpPr/>
          <p:nvPr/>
        </p:nvSpPr>
        <p:spPr>
          <a:xfrm>
            <a:off x="320040" y="2286000"/>
            <a:ext cx="8229600" cy="320040"/>
          </a:xfrm>
          <a:prstGeom prst="rect">
            <a:avLst/>
          </a:prstGeom>
          <a:noFill/>
          <a:ln/>
        </p:spPr>
        <p:txBody>
          <a:bodyPr wrap="square" rtlCol="0" anchor="ctr"/>
          <a:lstStyle/>
          <a:p>
            <a:pPr marL="0" indent="0">
              <a:buNone/>
            </a:pPr>
            <a:r>
              <a:rPr lang="en-US" sz="1300" b="1" dirty="0">
                <a:solidFill>
                  <a:srgbClr val="1F3864"/>
                </a:solidFill>
              </a:rPr>
              <a:t>Objectives of This Project</a:t>
            </a:r>
            <a:endParaRPr lang="en-US" sz="1300" dirty="0"/>
          </a:p>
        </p:txBody>
      </p:sp>
      <p:sp>
        <p:nvSpPr>
          <p:cNvPr id="9" name="Text 7"/>
          <p:cNvSpPr/>
          <p:nvPr/>
        </p:nvSpPr>
        <p:spPr>
          <a:xfrm>
            <a:off x="411480" y="2670048"/>
            <a:ext cx="8321040" cy="438912"/>
          </a:xfrm>
          <a:prstGeom prst="rect">
            <a:avLst/>
          </a:prstGeom>
          <a:noFill/>
          <a:ln/>
        </p:spPr>
        <p:txBody>
          <a:bodyPr wrap="square" rtlCol="0" anchor="ctr"/>
          <a:lstStyle/>
          <a:p>
            <a:pPr marL="0" indent="0">
              <a:lnSpc>
                <a:spcPct val="135000"/>
              </a:lnSpc>
              <a:buNone/>
            </a:pPr>
            <a:r>
              <a:rPr lang="en-US" sz="1000" dirty="0">
                <a:solidFill>
                  <a:srgbClr val="444444"/>
                </a:solidFill>
              </a:rPr>
              <a:t>1.  Build a unified system that predicts both Diabetes and 10-Year CHD risk from clinical parameters</a:t>
            </a:r>
            <a:endParaRPr lang="en-US" sz="1000" dirty="0"/>
          </a:p>
        </p:txBody>
      </p:sp>
      <p:sp>
        <p:nvSpPr>
          <p:cNvPr id="10" name="Text 8"/>
          <p:cNvSpPr/>
          <p:nvPr/>
        </p:nvSpPr>
        <p:spPr>
          <a:xfrm>
            <a:off x="411480" y="3182112"/>
            <a:ext cx="8321040" cy="438912"/>
          </a:xfrm>
          <a:prstGeom prst="rect">
            <a:avLst/>
          </a:prstGeom>
          <a:noFill/>
          <a:ln/>
        </p:spPr>
        <p:txBody>
          <a:bodyPr wrap="square" rtlCol="0" anchor="ctr"/>
          <a:lstStyle/>
          <a:p>
            <a:pPr marL="0" indent="0">
              <a:lnSpc>
                <a:spcPct val="135000"/>
              </a:lnSpc>
              <a:buNone/>
            </a:pPr>
            <a:r>
              <a:rPr lang="en-US" sz="1000" dirty="0">
                <a:solidFill>
                  <a:srgbClr val="444444"/>
                </a:solidFill>
              </a:rPr>
              <a:t>2.  Train and compare seven supervised ML models — Logistic Regression, Random Forest, SVM, KNN, XGBoost, Gradient Boosting, and Voting Ensemble</a:t>
            </a:r>
            <a:endParaRPr lang="en-US" sz="1000" dirty="0"/>
          </a:p>
        </p:txBody>
      </p:sp>
      <p:sp>
        <p:nvSpPr>
          <p:cNvPr id="11" name="Text 9"/>
          <p:cNvSpPr/>
          <p:nvPr/>
        </p:nvSpPr>
        <p:spPr>
          <a:xfrm>
            <a:off x="411480" y="3694176"/>
            <a:ext cx="8321040" cy="438912"/>
          </a:xfrm>
          <a:prstGeom prst="rect">
            <a:avLst/>
          </a:prstGeom>
          <a:noFill/>
          <a:ln/>
        </p:spPr>
        <p:txBody>
          <a:bodyPr wrap="square" rtlCol="0" anchor="ctr"/>
          <a:lstStyle/>
          <a:p>
            <a:pPr marL="0" indent="0">
              <a:lnSpc>
                <a:spcPct val="135000"/>
              </a:lnSpc>
              <a:buNone/>
            </a:pPr>
            <a:r>
              <a:rPr lang="en-US" sz="1000" dirty="0">
                <a:solidFill>
                  <a:srgbClr val="444444"/>
                </a:solidFill>
              </a:rPr>
              <a:t>3.  Introduce a 0-100 Risk Score with severity classification and personalised health recommendations</a:t>
            </a:r>
            <a:endParaRPr lang="en-US" sz="1000" dirty="0"/>
          </a:p>
        </p:txBody>
      </p:sp>
      <p:sp>
        <p:nvSpPr>
          <p:cNvPr id="12" name="Text 10"/>
          <p:cNvSpPr/>
          <p:nvPr/>
        </p:nvSpPr>
        <p:spPr>
          <a:xfrm>
            <a:off x="411480" y="4206240"/>
            <a:ext cx="8321040" cy="438912"/>
          </a:xfrm>
          <a:prstGeom prst="rect">
            <a:avLst/>
          </a:prstGeom>
          <a:noFill/>
          <a:ln/>
        </p:spPr>
        <p:txBody>
          <a:bodyPr wrap="square" rtlCol="0" anchor="ctr"/>
          <a:lstStyle/>
          <a:p>
            <a:pPr marL="0" indent="0">
              <a:lnSpc>
                <a:spcPct val="135000"/>
              </a:lnSpc>
              <a:buNone/>
            </a:pPr>
            <a:r>
              <a:rPr lang="en-US" sz="1000" dirty="0">
                <a:solidFill>
                  <a:srgbClr val="444444"/>
                </a:solidFill>
              </a:rPr>
              <a:t>4.  Deploy the system as an interactive web application using Streamlit with PDF report download and history tracking</a:t>
            </a:r>
            <a:endParaRPr lang="en-US" sz="1000" dirty="0"/>
          </a:p>
        </p:txBody>
      </p:sp>
      <p:sp>
        <p:nvSpPr>
          <p:cNvPr id="14" name="Text 12"/>
          <p:cNvSpPr/>
          <p:nvPr/>
        </p:nvSpPr>
        <p:spPr>
          <a:xfrm>
            <a:off x="0" y="4983480"/>
            <a:ext cx="9144000" cy="160020"/>
          </a:xfrm>
          <a:prstGeom prst="rect">
            <a:avLst/>
          </a:prstGeom>
          <a:noFill/>
          <a:ln/>
        </p:spPr>
        <p:txBody>
          <a:bodyPr wrap="square" rtlCol="0" anchor="ctr"/>
          <a:lstStyle/>
          <a:p>
            <a:pPr marL="0" indent="0" algn="ctr">
              <a:buNone/>
            </a:pPr>
            <a:r>
              <a:rPr lang="en-US" sz="800" dirty="0">
                <a:solidFill>
                  <a:srgbClr val="FFFFFF"/>
                </a:solidFill>
              </a:rPr>
              <a:t>Pritesh Raj  |  230103035  |  B.Tech CSE (AI &amp; DS)  |  IIIT Senapati, Manipur</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F3864"/>
          </a:solidFill>
          <a:ln/>
        </p:spPr>
      </p:sp>
      <p:sp>
        <p:nvSpPr>
          <p:cNvPr id="3" name="Text 1"/>
          <p:cNvSpPr/>
          <p:nvPr/>
        </p:nvSpPr>
        <p:spPr>
          <a:xfrm>
            <a:off x="320040" y="91440"/>
            <a:ext cx="7772400" cy="457200"/>
          </a:xfrm>
          <a:prstGeom prst="rect">
            <a:avLst/>
          </a:prstGeom>
          <a:noFill/>
          <a:ln/>
        </p:spPr>
        <p:txBody>
          <a:bodyPr wrap="square" rtlCol="0" anchor="ctr"/>
          <a:lstStyle/>
          <a:p>
            <a:pPr marL="0" indent="0">
              <a:buNone/>
            </a:pPr>
            <a:r>
              <a:rPr lang="en-US" sz="2000" b="1" dirty="0">
                <a:solidFill>
                  <a:srgbClr val="FFFFFF"/>
                </a:solidFill>
              </a:rPr>
              <a:t>Background and Existing Work</a:t>
            </a:r>
            <a:endParaRPr lang="en-US" sz="2000" dirty="0"/>
          </a:p>
        </p:txBody>
      </p:sp>
      <p:sp>
        <p:nvSpPr>
          <p:cNvPr id="4" name="Text 2"/>
          <p:cNvSpPr/>
          <p:nvPr/>
        </p:nvSpPr>
        <p:spPr>
          <a:xfrm>
            <a:off x="7772400" y="182880"/>
            <a:ext cx="1234440" cy="274320"/>
          </a:xfrm>
          <a:prstGeom prst="rect">
            <a:avLst/>
          </a:prstGeom>
          <a:noFill/>
          <a:ln/>
        </p:spPr>
        <p:txBody>
          <a:bodyPr wrap="square" rtlCol="0" anchor="ctr"/>
          <a:lstStyle/>
          <a:p>
            <a:pPr marL="0" indent="0" algn="r">
              <a:buNone/>
            </a:pPr>
            <a:endParaRPr lang="en-US" sz="800" dirty="0"/>
          </a:p>
        </p:txBody>
      </p:sp>
      <p:sp>
        <p:nvSpPr>
          <p:cNvPr id="5" name="Text 3"/>
          <p:cNvSpPr/>
          <p:nvPr/>
        </p:nvSpPr>
        <p:spPr>
          <a:xfrm>
            <a:off x="320040" y="777240"/>
            <a:ext cx="8229600" cy="292608"/>
          </a:xfrm>
          <a:prstGeom prst="rect">
            <a:avLst/>
          </a:prstGeom>
          <a:noFill/>
          <a:ln/>
        </p:spPr>
        <p:txBody>
          <a:bodyPr wrap="square" rtlCol="0" anchor="ctr"/>
          <a:lstStyle/>
          <a:p>
            <a:pPr marL="0" indent="0">
              <a:buNone/>
            </a:pPr>
            <a:r>
              <a:rPr lang="en-US" sz="1200" b="1" dirty="0">
                <a:solidFill>
                  <a:srgbClr val="1F3864"/>
                </a:solidFill>
              </a:rPr>
              <a:t>What Others Have Done</a:t>
            </a:r>
            <a:endParaRPr lang="en-US" sz="1200" dirty="0"/>
          </a:p>
        </p:txBody>
      </p:sp>
      <p:sp>
        <p:nvSpPr>
          <p:cNvPr id="6" name="Shape 4"/>
          <p:cNvSpPr/>
          <p:nvPr/>
        </p:nvSpPr>
        <p:spPr>
          <a:xfrm>
            <a:off x="320040" y="1115568"/>
            <a:ext cx="2743200" cy="1417320"/>
          </a:xfrm>
          <a:prstGeom prst="rect">
            <a:avLst/>
          </a:prstGeom>
          <a:solidFill>
            <a:srgbClr val="F4F4F4"/>
          </a:solidFill>
          <a:ln w="6350">
            <a:solidFill>
              <a:srgbClr val="CCCCCC"/>
            </a:solidFill>
            <a:prstDash val="solid"/>
          </a:ln>
        </p:spPr>
      </p:sp>
      <p:sp>
        <p:nvSpPr>
          <p:cNvPr id="7" name="Shape 5"/>
          <p:cNvSpPr/>
          <p:nvPr/>
        </p:nvSpPr>
        <p:spPr>
          <a:xfrm>
            <a:off x="320040" y="1115568"/>
            <a:ext cx="2743200" cy="54864"/>
          </a:xfrm>
          <a:prstGeom prst="rect">
            <a:avLst/>
          </a:prstGeom>
          <a:solidFill>
            <a:srgbClr val="1F3864"/>
          </a:solidFill>
          <a:ln/>
        </p:spPr>
      </p:sp>
      <p:sp>
        <p:nvSpPr>
          <p:cNvPr id="8" name="Text 6"/>
          <p:cNvSpPr/>
          <p:nvPr/>
        </p:nvSpPr>
        <p:spPr>
          <a:xfrm>
            <a:off x="411480" y="1188720"/>
            <a:ext cx="2560320" cy="292608"/>
          </a:xfrm>
          <a:prstGeom prst="rect">
            <a:avLst/>
          </a:prstGeom>
          <a:noFill/>
          <a:ln/>
        </p:spPr>
        <p:txBody>
          <a:bodyPr wrap="square" rtlCol="0" anchor="ctr"/>
          <a:lstStyle/>
          <a:p>
            <a:pPr marL="0" indent="0">
              <a:buNone/>
            </a:pPr>
            <a:r>
              <a:rPr lang="en-US" sz="900" b="1" dirty="0">
                <a:solidFill>
                  <a:srgbClr val="1F3864"/>
                </a:solidFill>
              </a:rPr>
              <a:t>Sisodia &amp; Sisodia (2018)</a:t>
            </a:r>
            <a:endParaRPr lang="en-US" sz="900" dirty="0"/>
          </a:p>
        </p:txBody>
      </p:sp>
      <p:sp>
        <p:nvSpPr>
          <p:cNvPr id="9" name="Text 7"/>
          <p:cNvSpPr/>
          <p:nvPr/>
        </p:nvSpPr>
        <p:spPr>
          <a:xfrm>
            <a:off x="411480" y="1499616"/>
            <a:ext cx="2560320" cy="411480"/>
          </a:xfrm>
          <a:prstGeom prst="rect">
            <a:avLst/>
          </a:prstGeom>
          <a:noFill/>
          <a:ln/>
        </p:spPr>
        <p:txBody>
          <a:bodyPr wrap="square" rtlCol="0" anchor="ctr"/>
          <a:lstStyle/>
          <a:p>
            <a:pPr marL="0" indent="0">
              <a:buNone/>
            </a:pPr>
            <a:r>
              <a:rPr lang="en-US" sz="850" dirty="0">
                <a:solidFill>
                  <a:srgbClr val="444444"/>
                </a:solidFill>
              </a:rPr>
              <a:t>Evaluated SVM on PIMA dataset — 76.3% accuracy</a:t>
            </a:r>
            <a:endParaRPr lang="en-US" sz="850" dirty="0"/>
          </a:p>
        </p:txBody>
      </p:sp>
      <p:sp>
        <p:nvSpPr>
          <p:cNvPr id="10" name="Text 8"/>
          <p:cNvSpPr/>
          <p:nvPr/>
        </p:nvSpPr>
        <p:spPr>
          <a:xfrm>
            <a:off x="411480" y="1920240"/>
            <a:ext cx="2560320" cy="411480"/>
          </a:xfrm>
          <a:prstGeom prst="rect">
            <a:avLst/>
          </a:prstGeom>
          <a:noFill/>
          <a:ln/>
        </p:spPr>
        <p:txBody>
          <a:bodyPr wrap="square" rtlCol="0" anchor="ctr"/>
          <a:lstStyle/>
          <a:p>
            <a:pPr marL="0" indent="0">
              <a:buNone/>
            </a:pPr>
            <a:r>
              <a:rPr lang="en-US" sz="800" dirty="0">
                <a:solidFill>
                  <a:srgbClr val="8B0000"/>
                </a:solidFill>
              </a:rPr>
              <a:t>Limitation: Single disease, no deployment</a:t>
            </a:r>
            <a:endParaRPr lang="en-US" sz="800" dirty="0"/>
          </a:p>
        </p:txBody>
      </p:sp>
      <p:sp>
        <p:nvSpPr>
          <p:cNvPr id="11" name="Shape 9"/>
          <p:cNvSpPr/>
          <p:nvPr/>
        </p:nvSpPr>
        <p:spPr>
          <a:xfrm>
            <a:off x="3246120" y="1115568"/>
            <a:ext cx="2743200" cy="1417320"/>
          </a:xfrm>
          <a:prstGeom prst="rect">
            <a:avLst/>
          </a:prstGeom>
          <a:solidFill>
            <a:srgbClr val="F4F4F4"/>
          </a:solidFill>
          <a:ln w="6350">
            <a:solidFill>
              <a:srgbClr val="CCCCCC"/>
            </a:solidFill>
            <a:prstDash val="solid"/>
          </a:ln>
        </p:spPr>
      </p:sp>
      <p:sp>
        <p:nvSpPr>
          <p:cNvPr id="12" name="Shape 10"/>
          <p:cNvSpPr/>
          <p:nvPr/>
        </p:nvSpPr>
        <p:spPr>
          <a:xfrm>
            <a:off x="3246120" y="1115568"/>
            <a:ext cx="2743200" cy="54864"/>
          </a:xfrm>
          <a:prstGeom prst="rect">
            <a:avLst/>
          </a:prstGeom>
          <a:solidFill>
            <a:srgbClr val="1F3864"/>
          </a:solidFill>
          <a:ln/>
        </p:spPr>
      </p:sp>
      <p:sp>
        <p:nvSpPr>
          <p:cNvPr id="13" name="Text 11"/>
          <p:cNvSpPr/>
          <p:nvPr/>
        </p:nvSpPr>
        <p:spPr>
          <a:xfrm>
            <a:off x="3337560" y="1188720"/>
            <a:ext cx="2560320" cy="292608"/>
          </a:xfrm>
          <a:prstGeom prst="rect">
            <a:avLst/>
          </a:prstGeom>
          <a:noFill/>
          <a:ln/>
        </p:spPr>
        <p:txBody>
          <a:bodyPr wrap="square" rtlCol="0" anchor="ctr"/>
          <a:lstStyle/>
          <a:p>
            <a:pPr marL="0" indent="0">
              <a:buNone/>
            </a:pPr>
            <a:r>
              <a:rPr lang="en-US" sz="900" b="1" dirty="0">
                <a:solidFill>
                  <a:srgbClr val="1F3864"/>
                </a:solidFill>
              </a:rPr>
              <a:t>Nai-arun &amp; Moungmai (2015)</a:t>
            </a:r>
            <a:endParaRPr lang="en-US" sz="900" dirty="0"/>
          </a:p>
        </p:txBody>
      </p:sp>
      <p:sp>
        <p:nvSpPr>
          <p:cNvPr id="14" name="Text 12"/>
          <p:cNvSpPr/>
          <p:nvPr/>
        </p:nvSpPr>
        <p:spPr>
          <a:xfrm>
            <a:off x="3337560" y="1499616"/>
            <a:ext cx="2560320" cy="411480"/>
          </a:xfrm>
          <a:prstGeom prst="rect">
            <a:avLst/>
          </a:prstGeom>
          <a:noFill/>
          <a:ln/>
        </p:spPr>
        <p:txBody>
          <a:bodyPr wrap="square" rtlCol="0" anchor="ctr"/>
          <a:lstStyle/>
          <a:p>
            <a:pPr marL="0" indent="0">
              <a:buNone/>
            </a:pPr>
            <a:r>
              <a:rPr lang="en-US" sz="850" dirty="0">
                <a:solidFill>
                  <a:srgbClr val="444444"/>
                </a:solidFill>
              </a:rPr>
              <a:t>Random Forest on PIMA — 77.6% accuracy</a:t>
            </a:r>
            <a:endParaRPr lang="en-US" sz="850" dirty="0"/>
          </a:p>
        </p:txBody>
      </p:sp>
      <p:sp>
        <p:nvSpPr>
          <p:cNvPr id="15" name="Text 13"/>
          <p:cNvSpPr/>
          <p:nvPr/>
        </p:nvSpPr>
        <p:spPr>
          <a:xfrm>
            <a:off x="3337560" y="1920240"/>
            <a:ext cx="2560320" cy="411480"/>
          </a:xfrm>
          <a:prstGeom prst="rect">
            <a:avLst/>
          </a:prstGeom>
          <a:noFill/>
          <a:ln/>
        </p:spPr>
        <p:txBody>
          <a:bodyPr wrap="square" rtlCol="0" anchor="ctr"/>
          <a:lstStyle/>
          <a:p>
            <a:pPr marL="0" indent="0">
              <a:buNone/>
            </a:pPr>
            <a:r>
              <a:rPr lang="en-US" sz="800" dirty="0">
                <a:solidFill>
                  <a:srgbClr val="8B0000"/>
                </a:solidFill>
              </a:rPr>
              <a:t>Limitation: Diabetes only, no risk scoring</a:t>
            </a:r>
            <a:endParaRPr lang="en-US" sz="800" dirty="0"/>
          </a:p>
        </p:txBody>
      </p:sp>
      <p:sp>
        <p:nvSpPr>
          <p:cNvPr id="16" name="Shape 14"/>
          <p:cNvSpPr/>
          <p:nvPr/>
        </p:nvSpPr>
        <p:spPr>
          <a:xfrm>
            <a:off x="6172200" y="1115568"/>
            <a:ext cx="2743200" cy="1417320"/>
          </a:xfrm>
          <a:prstGeom prst="rect">
            <a:avLst/>
          </a:prstGeom>
          <a:solidFill>
            <a:srgbClr val="F4F4F4"/>
          </a:solidFill>
          <a:ln w="6350">
            <a:solidFill>
              <a:srgbClr val="CCCCCC"/>
            </a:solidFill>
            <a:prstDash val="solid"/>
          </a:ln>
        </p:spPr>
      </p:sp>
      <p:sp>
        <p:nvSpPr>
          <p:cNvPr id="17" name="Shape 15"/>
          <p:cNvSpPr/>
          <p:nvPr/>
        </p:nvSpPr>
        <p:spPr>
          <a:xfrm>
            <a:off x="6172200" y="1115568"/>
            <a:ext cx="2743200" cy="54864"/>
          </a:xfrm>
          <a:prstGeom prst="rect">
            <a:avLst/>
          </a:prstGeom>
          <a:solidFill>
            <a:srgbClr val="1F3864"/>
          </a:solidFill>
          <a:ln/>
        </p:spPr>
      </p:sp>
      <p:sp>
        <p:nvSpPr>
          <p:cNvPr id="18" name="Text 16"/>
          <p:cNvSpPr/>
          <p:nvPr/>
        </p:nvSpPr>
        <p:spPr>
          <a:xfrm>
            <a:off x="6263640" y="1188720"/>
            <a:ext cx="2560320" cy="292608"/>
          </a:xfrm>
          <a:prstGeom prst="rect">
            <a:avLst/>
          </a:prstGeom>
          <a:noFill/>
          <a:ln/>
        </p:spPr>
        <p:txBody>
          <a:bodyPr wrap="square" rtlCol="0" anchor="ctr"/>
          <a:lstStyle/>
          <a:p>
            <a:pPr marL="0" indent="0">
              <a:buNone/>
            </a:pPr>
            <a:r>
              <a:rPr lang="en-US" sz="900" b="1" dirty="0">
                <a:solidFill>
                  <a:srgbClr val="1F3864"/>
                </a:solidFill>
              </a:rPr>
              <a:t>Mohan et al. (2019)</a:t>
            </a:r>
            <a:endParaRPr lang="en-US" sz="900" dirty="0"/>
          </a:p>
        </p:txBody>
      </p:sp>
      <p:sp>
        <p:nvSpPr>
          <p:cNvPr id="19" name="Text 17"/>
          <p:cNvSpPr/>
          <p:nvPr/>
        </p:nvSpPr>
        <p:spPr>
          <a:xfrm>
            <a:off x="6263640" y="1499616"/>
            <a:ext cx="2560320" cy="411480"/>
          </a:xfrm>
          <a:prstGeom prst="rect">
            <a:avLst/>
          </a:prstGeom>
          <a:noFill/>
          <a:ln/>
        </p:spPr>
        <p:txBody>
          <a:bodyPr wrap="square" rtlCol="0" anchor="ctr"/>
          <a:lstStyle/>
          <a:p>
            <a:pPr marL="0" indent="0">
              <a:buNone/>
            </a:pPr>
            <a:r>
              <a:rPr lang="en-US" sz="850" dirty="0">
                <a:solidFill>
                  <a:srgbClr val="444444"/>
                </a:solidFill>
              </a:rPr>
              <a:t>Hybrid Random Forest for heart disease — 88.7%</a:t>
            </a:r>
            <a:endParaRPr lang="en-US" sz="850" dirty="0"/>
          </a:p>
        </p:txBody>
      </p:sp>
      <p:sp>
        <p:nvSpPr>
          <p:cNvPr id="20" name="Text 18"/>
          <p:cNvSpPr/>
          <p:nvPr/>
        </p:nvSpPr>
        <p:spPr>
          <a:xfrm>
            <a:off x="6263640" y="1920240"/>
            <a:ext cx="2560320" cy="411480"/>
          </a:xfrm>
          <a:prstGeom prst="rect">
            <a:avLst/>
          </a:prstGeom>
          <a:noFill/>
          <a:ln/>
        </p:spPr>
        <p:txBody>
          <a:bodyPr wrap="square" rtlCol="0" anchor="ctr"/>
          <a:lstStyle/>
          <a:p>
            <a:pPr marL="0" indent="0">
              <a:buNone/>
            </a:pPr>
            <a:r>
              <a:rPr lang="en-US" sz="800" dirty="0">
                <a:solidFill>
                  <a:srgbClr val="8B0000"/>
                </a:solidFill>
              </a:rPr>
              <a:t>Limitation: Heart disease only, no web app</a:t>
            </a:r>
            <a:endParaRPr lang="en-US" sz="800" dirty="0"/>
          </a:p>
        </p:txBody>
      </p:sp>
      <p:sp>
        <p:nvSpPr>
          <p:cNvPr id="21" name="Shape 19"/>
          <p:cNvSpPr/>
          <p:nvPr/>
        </p:nvSpPr>
        <p:spPr>
          <a:xfrm>
            <a:off x="320040" y="2651760"/>
            <a:ext cx="8503920" cy="9144"/>
          </a:xfrm>
          <a:prstGeom prst="rect">
            <a:avLst/>
          </a:prstGeom>
          <a:solidFill>
            <a:srgbClr val="CCCCCC"/>
          </a:solidFill>
          <a:ln/>
        </p:spPr>
      </p:sp>
      <p:sp>
        <p:nvSpPr>
          <p:cNvPr id="22" name="Text 20"/>
          <p:cNvSpPr/>
          <p:nvPr/>
        </p:nvSpPr>
        <p:spPr>
          <a:xfrm>
            <a:off x="320040" y="2788920"/>
            <a:ext cx="8229600" cy="292608"/>
          </a:xfrm>
          <a:prstGeom prst="rect">
            <a:avLst/>
          </a:prstGeom>
          <a:noFill/>
          <a:ln/>
        </p:spPr>
        <p:txBody>
          <a:bodyPr wrap="square" rtlCol="0" anchor="ctr"/>
          <a:lstStyle/>
          <a:p>
            <a:pPr marL="0" indent="0">
              <a:buNone/>
            </a:pPr>
            <a:r>
              <a:rPr lang="en-US" sz="1200" b="1" dirty="0">
                <a:solidFill>
                  <a:srgbClr val="1F3864"/>
                </a:solidFill>
              </a:rPr>
              <a:t>How This Project Fills the Gap</a:t>
            </a:r>
            <a:endParaRPr lang="en-US" sz="1200" dirty="0"/>
          </a:p>
        </p:txBody>
      </p:sp>
      <p:sp>
        <p:nvSpPr>
          <p:cNvPr id="23" name="Text 21"/>
          <p:cNvSpPr/>
          <p:nvPr/>
        </p:nvSpPr>
        <p:spPr>
          <a:xfrm>
            <a:off x="411480" y="3127248"/>
            <a:ext cx="1737360" cy="365760"/>
          </a:xfrm>
          <a:prstGeom prst="rect">
            <a:avLst/>
          </a:prstGeom>
          <a:noFill/>
          <a:ln/>
        </p:spPr>
        <p:txBody>
          <a:bodyPr wrap="square" rtlCol="0" anchor="ctr"/>
          <a:lstStyle/>
          <a:p>
            <a:pPr marL="0" indent="0">
              <a:buNone/>
            </a:pPr>
            <a:r>
              <a:rPr lang="en-US" sz="950" b="1" dirty="0">
                <a:solidFill>
                  <a:srgbClr val="1F3864"/>
                </a:solidFill>
              </a:rPr>
              <a:t>One unified system:</a:t>
            </a:r>
            <a:endParaRPr lang="en-US" sz="950" dirty="0"/>
          </a:p>
        </p:txBody>
      </p:sp>
      <p:sp>
        <p:nvSpPr>
          <p:cNvPr id="24" name="Text 22"/>
          <p:cNvSpPr/>
          <p:nvPr/>
        </p:nvSpPr>
        <p:spPr>
          <a:xfrm>
            <a:off x="2194560" y="3127248"/>
            <a:ext cx="6583680" cy="365760"/>
          </a:xfrm>
          <a:prstGeom prst="rect">
            <a:avLst/>
          </a:prstGeom>
          <a:noFill/>
          <a:ln/>
        </p:spPr>
        <p:txBody>
          <a:bodyPr wrap="square" rtlCol="0" anchor="ctr"/>
          <a:lstStyle/>
          <a:p>
            <a:pPr marL="0" indent="0">
              <a:buNone/>
            </a:pPr>
            <a:r>
              <a:rPr lang="en-US" sz="950" dirty="0">
                <a:solidFill>
                  <a:srgbClr val="444444"/>
                </a:solidFill>
              </a:rPr>
              <a:t>Predicts both Diabetes and 10-Year CHD Risk together — no existing undergraduate system does this</a:t>
            </a:r>
            <a:endParaRPr lang="en-US" sz="950" dirty="0"/>
          </a:p>
        </p:txBody>
      </p:sp>
      <p:sp>
        <p:nvSpPr>
          <p:cNvPr id="25" name="Text 23"/>
          <p:cNvSpPr/>
          <p:nvPr/>
        </p:nvSpPr>
        <p:spPr>
          <a:xfrm>
            <a:off x="411480" y="3557016"/>
            <a:ext cx="1737360" cy="365760"/>
          </a:xfrm>
          <a:prstGeom prst="rect">
            <a:avLst/>
          </a:prstGeom>
          <a:noFill/>
          <a:ln/>
        </p:spPr>
        <p:txBody>
          <a:bodyPr wrap="square" rtlCol="0" anchor="ctr"/>
          <a:lstStyle/>
          <a:p>
            <a:pPr marL="0" indent="0">
              <a:buNone/>
            </a:pPr>
            <a:r>
              <a:rPr lang="en-US" sz="950" b="1" dirty="0">
                <a:solidFill>
                  <a:srgbClr val="1F3864"/>
                </a:solidFill>
              </a:rPr>
              <a:t>Risk Score (0-100):</a:t>
            </a:r>
            <a:endParaRPr lang="en-US" sz="950" dirty="0"/>
          </a:p>
        </p:txBody>
      </p:sp>
      <p:sp>
        <p:nvSpPr>
          <p:cNvPr id="26" name="Text 24"/>
          <p:cNvSpPr/>
          <p:nvPr/>
        </p:nvSpPr>
        <p:spPr>
          <a:xfrm>
            <a:off x="2194560" y="3557016"/>
            <a:ext cx="6583680" cy="365760"/>
          </a:xfrm>
          <a:prstGeom prst="rect">
            <a:avLst/>
          </a:prstGeom>
          <a:noFill/>
          <a:ln/>
        </p:spPr>
        <p:txBody>
          <a:bodyPr wrap="square" rtlCol="0" anchor="ctr"/>
          <a:lstStyle/>
          <a:p>
            <a:pPr marL="0" indent="0">
              <a:buNone/>
            </a:pPr>
            <a:r>
              <a:rPr lang="en-US" sz="950" dirty="0">
                <a:solidFill>
                  <a:srgbClr val="444444"/>
                </a:solidFill>
              </a:rPr>
              <a:t>Converts model probability to an intuitive score with three severity levels (Low / Moderate / High)</a:t>
            </a:r>
            <a:endParaRPr lang="en-US" sz="950" dirty="0"/>
          </a:p>
        </p:txBody>
      </p:sp>
      <p:sp>
        <p:nvSpPr>
          <p:cNvPr id="27" name="Text 25"/>
          <p:cNvSpPr/>
          <p:nvPr/>
        </p:nvSpPr>
        <p:spPr>
          <a:xfrm>
            <a:off x="411480" y="3986784"/>
            <a:ext cx="1737360" cy="365760"/>
          </a:xfrm>
          <a:prstGeom prst="rect">
            <a:avLst/>
          </a:prstGeom>
          <a:noFill/>
          <a:ln/>
        </p:spPr>
        <p:txBody>
          <a:bodyPr wrap="square" rtlCol="0" anchor="ctr"/>
          <a:lstStyle/>
          <a:p>
            <a:pPr marL="0" indent="0">
              <a:buNone/>
            </a:pPr>
            <a:r>
              <a:rPr lang="en-US" sz="950" b="1" dirty="0">
                <a:solidFill>
                  <a:srgbClr val="1F3864"/>
                </a:solidFill>
              </a:rPr>
              <a:t>Feature Engineering:</a:t>
            </a:r>
            <a:endParaRPr lang="en-US" sz="950" dirty="0"/>
          </a:p>
        </p:txBody>
      </p:sp>
      <p:sp>
        <p:nvSpPr>
          <p:cNvPr id="28" name="Text 26"/>
          <p:cNvSpPr/>
          <p:nvPr/>
        </p:nvSpPr>
        <p:spPr>
          <a:xfrm>
            <a:off x="2194560" y="3986784"/>
            <a:ext cx="6583680" cy="365760"/>
          </a:xfrm>
          <a:prstGeom prst="rect">
            <a:avLst/>
          </a:prstGeom>
          <a:noFill/>
          <a:ln/>
        </p:spPr>
        <p:txBody>
          <a:bodyPr wrap="square" rtlCol="0" anchor="ctr"/>
          <a:lstStyle/>
          <a:p>
            <a:pPr marL="0" indent="0">
              <a:buNone/>
            </a:pPr>
            <a:r>
              <a:rPr lang="en-US" sz="950" dirty="0">
                <a:solidFill>
                  <a:srgbClr val="444444"/>
                </a:solidFill>
              </a:rPr>
              <a:t>Four new clinically meaningful features created — age_risk proved to be the most important predictor (0.218)</a:t>
            </a:r>
            <a:endParaRPr lang="en-US" sz="950" dirty="0"/>
          </a:p>
        </p:txBody>
      </p:sp>
      <p:sp>
        <p:nvSpPr>
          <p:cNvPr id="29" name="Text 27"/>
          <p:cNvSpPr/>
          <p:nvPr/>
        </p:nvSpPr>
        <p:spPr>
          <a:xfrm>
            <a:off x="411480" y="4416552"/>
            <a:ext cx="1737360" cy="365760"/>
          </a:xfrm>
          <a:prstGeom prst="rect">
            <a:avLst/>
          </a:prstGeom>
          <a:noFill/>
          <a:ln/>
        </p:spPr>
        <p:txBody>
          <a:bodyPr wrap="square" rtlCol="0" anchor="ctr"/>
          <a:lstStyle/>
          <a:p>
            <a:pPr marL="0" indent="0">
              <a:buNone/>
            </a:pPr>
            <a:r>
              <a:rPr lang="en-US" sz="950" b="1" dirty="0">
                <a:solidFill>
                  <a:srgbClr val="1F3864"/>
                </a:solidFill>
              </a:rPr>
              <a:t>Full Deployment:</a:t>
            </a:r>
            <a:endParaRPr lang="en-US" sz="950" dirty="0"/>
          </a:p>
        </p:txBody>
      </p:sp>
      <p:sp>
        <p:nvSpPr>
          <p:cNvPr id="30" name="Text 28"/>
          <p:cNvSpPr/>
          <p:nvPr/>
        </p:nvSpPr>
        <p:spPr>
          <a:xfrm>
            <a:off x="2194560" y="4416552"/>
            <a:ext cx="6583680" cy="365760"/>
          </a:xfrm>
          <a:prstGeom prst="rect">
            <a:avLst/>
          </a:prstGeom>
          <a:noFill/>
          <a:ln/>
        </p:spPr>
        <p:txBody>
          <a:bodyPr wrap="square" rtlCol="0" anchor="ctr"/>
          <a:lstStyle/>
          <a:p>
            <a:pPr marL="0" indent="0">
              <a:buNone/>
            </a:pPr>
            <a:r>
              <a:rPr lang="en-US" sz="950" dirty="0">
                <a:solidFill>
                  <a:srgbClr val="444444"/>
                </a:solidFill>
              </a:rPr>
              <a:t>Live web app with PDF report download, prediction history, and interactive visualisations</a:t>
            </a:r>
            <a:endParaRPr lang="en-US" sz="950" dirty="0"/>
          </a:p>
        </p:txBody>
      </p:sp>
      <p:sp>
        <p:nvSpPr>
          <p:cNvPr id="32" name="Text 30"/>
          <p:cNvSpPr/>
          <p:nvPr/>
        </p:nvSpPr>
        <p:spPr>
          <a:xfrm>
            <a:off x="0" y="4983480"/>
            <a:ext cx="9144000" cy="160020"/>
          </a:xfrm>
          <a:prstGeom prst="rect">
            <a:avLst/>
          </a:prstGeom>
          <a:noFill/>
          <a:ln/>
        </p:spPr>
        <p:txBody>
          <a:bodyPr wrap="square" rtlCol="0" anchor="ctr"/>
          <a:lstStyle/>
          <a:p>
            <a:pPr marL="0" indent="0" algn="ctr">
              <a:buNone/>
            </a:pPr>
            <a:r>
              <a:rPr lang="en-US" sz="800" dirty="0">
                <a:solidFill>
                  <a:srgbClr val="FFFFFF"/>
                </a:solidFill>
              </a:rPr>
              <a:t>Pritesh Raj  |  230103035  |  B.Tech CSE (AI &amp; DS)  |  IIIT Senapati, Manipur</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F3864"/>
          </a:solidFill>
          <a:ln/>
        </p:spPr>
      </p:sp>
      <p:sp>
        <p:nvSpPr>
          <p:cNvPr id="3" name="Text 1"/>
          <p:cNvSpPr/>
          <p:nvPr/>
        </p:nvSpPr>
        <p:spPr>
          <a:xfrm>
            <a:off x="320040" y="91440"/>
            <a:ext cx="7772400" cy="457200"/>
          </a:xfrm>
          <a:prstGeom prst="rect">
            <a:avLst/>
          </a:prstGeom>
          <a:noFill/>
          <a:ln/>
        </p:spPr>
        <p:txBody>
          <a:bodyPr wrap="square" rtlCol="0" anchor="ctr"/>
          <a:lstStyle/>
          <a:p>
            <a:pPr marL="0" indent="0">
              <a:buNone/>
            </a:pPr>
            <a:r>
              <a:rPr lang="en-US" sz="2000" b="1" dirty="0">
                <a:solidFill>
                  <a:srgbClr val="FFFFFF"/>
                </a:solidFill>
              </a:rPr>
              <a:t>Proposed System and Architecture</a:t>
            </a:r>
            <a:endParaRPr lang="en-US" sz="2000" dirty="0"/>
          </a:p>
        </p:txBody>
      </p:sp>
      <p:sp>
        <p:nvSpPr>
          <p:cNvPr id="4" name="Text 2"/>
          <p:cNvSpPr/>
          <p:nvPr/>
        </p:nvSpPr>
        <p:spPr>
          <a:xfrm>
            <a:off x="7772400" y="182880"/>
            <a:ext cx="1234440" cy="274320"/>
          </a:xfrm>
          <a:prstGeom prst="rect">
            <a:avLst/>
          </a:prstGeom>
          <a:noFill/>
          <a:ln/>
        </p:spPr>
        <p:txBody>
          <a:bodyPr wrap="square" rtlCol="0" anchor="ctr"/>
          <a:lstStyle/>
          <a:p>
            <a:pPr marL="0" indent="0" algn="r">
              <a:buNone/>
            </a:pPr>
            <a:endParaRPr lang="en-US" sz="800" dirty="0"/>
          </a:p>
        </p:txBody>
      </p:sp>
      <p:sp>
        <p:nvSpPr>
          <p:cNvPr id="5" name="Text 3"/>
          <p:cNvSpPr/>
          <p:nvPr/>
        </p:nvSpPr>
        <p:spPr>
          <a:xfrm>
            <a:off x="320040" y="777240"/>
            <a:ext cx="8229600" cy="292608"/>
          </a:xfrm>
          <a:prstGeom prst="rect">
            <a:avLst/>
          </a:prstGeom>
          <a:noFill/>
          <a:ln/>
        </p:spPr>
        <p:txBody>
          <a:bodyPr wrap="square" rtlCol="0" anchor="ctr"/>
          <a:lstStyle/>
          <a:p>
            <a:pPr marL="0" indent="0">
              <a:buNone/>
            </a:pPr>
            <a:r>
              <a:rPr lang="en-US" sz="1200" b="1" dirty="0">
                <a:solidFill>
                  <a:srgbClr val="1F3864"/>
                </a:solidFill>
              </a:rPr>
              <a:t>System Pipeline</a:t>
            </a:r>
            <a:endParaRPr lang="en-US" sz="1200" dirty="0"/>
          </a:p>
        </p:txBody>
      </p:sp>
      <p:sp>
        <p:nvSpPr>
          <p:cNvPr id="6" name="Shape 4"/>
          <p:cNvSpPr/>
          <p:nvPr/>
        </p:nvSpPr>
        <p:spPr>
          <a:xfrm>
            <a:off x="320040" y="1115568"/>
            <a:ext cx="1463040" cy="914400"/>
          </a:xfrm>
          <a:prstGeom prst="rect">
            <a:avLst/>
          </a:prstGeom>
          <a:solidFill>
            <a:srgbClr val="F4F4F4"/>
          </a:solidFill>
          <a:ln w="10160">
            <a:solidFill>
              <a:srgbClr val="CCCCCC"/>
            </a:solidFill>
            <a:prstDash val="solid"/>
          </a:ln>
        </p:spPr>
      </p:sp>
      <p:sp>
        <p:nvSpPr>
          <p:cNvPr id="7" name="Text 5"/>
          <p:cNvSpPr/>
          <p:nvPr/>
        </p:nvSpPr>
        <p:spPr>
          <a:xfrm>
            <a:off x="320040" y="1143000"/>
            <a:ext cx="1463040" cy="320040"/>
          </a:xfrm>
          <a:prstGeom prst="rect">
            <a:avLst/>
          </a:prstGeom>
          <a:noFill/>
          <a:ln/>
        </p:spPr>
        <p:txBody>
          <a:bodyPr wrap="square" rtlCol="0" anchor="ctr"/>
          <a:lstStyle/>
          <a:p>
            <a:pPr marL="0" indent="0" algn="ctr">
              <a:buNone/>
            </a:pPr>
            <a:r>
              <a:rPr lang="en-US" sz="900" b="1" dirty="0">
                <a:solidFill>
                  <a:srgbClr val="1F3864"/>
                </a:solidFill>
              </a:rPr>
              <a:t>1. Dataset</a:t>
            </a:r>
            <a:endParaRPr lang="en-US" sz="900" dirty="0"/>
          </a:p>
        </p:txBody>
      </p:sp>
      <p:sp>
        <p:nvSpPr>
          <p:cNvPr id="8" name="Text 6"/>
          <p:cNvSpPr/>
          <p:nvPr/>
        </p:nvSpPr>
        <p:spPr>
          <a:xfrm>
            <a:off x="320040" y="1463040"/>
            <a:ext cx="1463040" cy="502920"/>
          </a:xfrm>
          <a:prstGeom prst="rect">
            <a:avLst/>
          </a:prstGeom>
          <a:noFill/>
          <a:ln/>
        </p:spPr>
        <p:txBody>
          <a:bodyPr wrap="square" rtlCol="0" anchor="ctr"/>
          <a:lstStyle/>
          <a:p>
            <a:pPr marL="0" indent="0" algn="ctr">
              <a:buNone/>
            </a:pPr>
            <a:r>
              <a:rPr lang="en-US" sz="800" dirty="0">
                <a:solidFill>
                  <a:srgbClr val="666666"/>
                </a:solidFill>
              </a:rPr>
              <a:t>PIMA (768)</a:t>
            </a:r>
            <a:endParaRPr lang="en-US" sz="800" dirty="0"/>
          </a:p>
          <a:p>
            <a:pPr marL="0" indent="0" algn="ctr">
              <a:buNone/>
            </a:pPr>
            <a:r>
              <a:rPr lang="en-US" sz="800" dirty="0">
                <a:solidFill>
                  <a:srgbClr val="666666"/>
                </a:solidFill>
              </a:rPr>
              <a:t>Framingham</a:t>
            </a:r>
            <a:endParaRPr lang="en-US" sz="800" dirty="0"/>
          </a:p>
          <a:p>
            <a:pPr marL="0" indent="0" algn="ctr">
              <a:buNone/>
            </a:pPr>
            <a:r>
              <a:rPr lang="en-US" sz="800" dirty="0">
                <a:solidFill>
                  <a:srgbClr val="666666"/>
                </a:solidFill>
              </a:rPr>
              <a:t>(4,240)</a:t>
            </a:r>
            <a:endParaRPr lang="en-US" sz="800" dirty="0"/>
          </a:p>
        </p:txBody>
      </p:sp>
      <p:sp>
        <p:nvSpPr>
          <p:cNvPr id="9" name="Text 7"/>
          <p:cNvSpPr/>
          <p:nvPr/>
        </p:nvSpPr>
        <p:spPr>
          <a:xfrm>
            <a:off x="1783080" y="1435608"/>
            <a:ext cx="228600" cy="320040"/>
          </a:xfrm>
          <a:prstGeom prst="rect">
            <a:avLst/>
          </a:prstGeom>
          <a:noFill/>
          <a:ln/>
        </p:spPr>
        <p:txBody>
          <a:bodyPr wrap="square" rtlCol="0" anchor="ctr"/>
          <a:lstStyle/>
          <a:p>
            <a:pPr marL="0" indent="0" algn="ctr">
              <a:buNone/>
            </a:pPr>
            <a:r>
              <a:rPr lang="en-US" sz="1000" b="1" dirty="0">
                <a:solidFill>
                  <a:srgbClr val="1F3864"/>
                </a:solidFill>
              </a:rPr>
              <a:t>&gt;</a:t>
            </a:r>
            <a:endParaRPr lang="en-US" sz="1000" dirty="0"/>
          </a:p>
        </p:txBody>
      </p:sp>
      <p:sp>
        <p:nvSpPr>
          <p:cNvPr id="10" name="Shape 8"/>
          <p:cNvSpPr/>
          <p:nvPr/>
        </p:nvSpPr>
        <p:spPr>
          <a:xfrm>
            <a:off x="2011680" y="1115568"/>
            <a:ext cx="1463040" cy="914400"/>
          </a:xfrm>
          <a:prstGeom prst="rect">
            <a:avLst/>
          </a:prstGeom>
          <a:solidFill>
            <a:srgbClr val="F4F4F4"/>
          </a:solidFill>
          <a:ln w="10160">
            <a:solidFill>
              <a:srgbClr val="CCCCCC"/>
            </a:solidFill>
            <a:prstDash val="solid"/>
          </a:ln>
        </p:spPr>
      </p:sp>
      <p:sp>
        <p:nvSpPr>
          <p:cNvPr id="11" name="Text 9"/>
          <p:cNvSpPr/>
          <p:nvPr/>
        </p:nvSpPr>
        <p:spPr>
          <a:xfrm>
            <a:off x="2011680" y="1143000"/>
            <a:ext cx="1463040" cy="320040"/>
          </a:xfrm>
          <a:prstGeom prst="rect">
            <a:avLst/>
          </a:prstGeom>
          <a:noFill/>
          <a:ln/>
        </p:spPr>
        <p:txBody>
          <a:bodyPr wrap="square" rtlCol="0" anchor="ctr"/>
          <a:lstStyle/>
          <a:p>
            <a:pPr marL="0" indent="0" algn="ctr">
              <a:buNone/>
            </a:pPr>
            <a:r>
              <a:rPr lang="en-US" sz="900" b="1" dirty="0">
                <a:solidFill>
                  <a:srgbClr val="1F3864"/>
                </a:solidFill>
              </a:rPr>
              <a:t>2. Preprocess</a:t>
            </a:r>
            <a:endParaRPr lang="en-US" sz="900" dirty="0"/>
          </a:p>
        </p:txBody>
      </p:sp>
      <p:sp>
        <p:nvSpPr>
          <p:cNvPr id="12" name="Text 10"/>
          <p:cNvSpPr/>
          <p:nvPr/>
        </p:nvSpPr>
        <p:spPr>
          <a:xfrm>
            <a:off x="2011680" y="1463040"/>
            <a:ext cx="1463040" cy="502920"/>
          </a:xfrm>
          <a:prstGeom prst="rect">
            <a:avLst/>
          </a:prstGeom>
          <a:noFill/>
          <a:ln/>
        </p:spPr>
        <p:txBody>
          <a:bodyPr wrap="square" rtlCol="0" anchor="ctr"/>
          <a:lstStyle/>
          <a:p>
            <a:pPr marL="0" indent="0" algn="ctr">
              <a:buNone/>
            </a:pPr>
            <a:r>
              <a:rPr lang="en-US" sz="800" dirty="0">
                <a:solidFill>
                  <a:srgbClr val="666666"/>
                </a:solidFill>
              </a:rPr>
              <a:t>Imputation</a:t>
            </a:r>
            <a:endParaRPr lang="en-US" sz="800" dirty="0"/>
          </a:p>
          <a:p>
            <a:pPr marL="0" indent="0" algn="ctr">
              <a:buNone/>
            </a:pPr>
            <a:r>
              <a:rPr lang="en-US" sz="800" dirty="0">
                <a:solidFill>
                  <a:srgbClr val="666666"/>
                </a:solidFill>
              </a:rPr>
              <a:t>Scaling</a:t>
            </a:r>
            <a:endParaRPr lang="en-US" sz="800" dirty="0"/>
          </a:p>
          <a:p>
            <a:pPr marL="0" indent="0" algn="ctr">
              <a:buNone/>
            </a:pPr>
            <a:r>
              <a:rPr lang="en-US" sz="800" dirty="0">
                <a:solidFill>
                  <a:srgbClr val="666666"/>
                </a:solidFill>
              </a:rPr>
              <a:t>Engineering</a:t>
            </a:r>
            <a:endParaRPr lang="en-US" sz="800" dirty="0"/>
          </a:p>
        </p:txBody>
      </p:sp>
      <p:sp>
        <p:nvSpPr>
          <p:cNvPr id="13" name="Text 11"/>
          <p:cNvSpPr/>
          <p:nvPr/>
        </p:nvSpPr>
        <p:spPr>
          <a:xfrm>
            <a:off x="3474720" y="1435608"/>
            <a:ext cx="228600" cy="320040"/>
          </a:xfrm>
          <a:prstGeom prst="rect">
            <a:avLst/>
          </a:prstGeom>
          <a:noFill/>
          <a:ln/>
        </p:spPr>
        <p:txBody>
          <a:bodyPr wrap="square" rtlCol="0" anchor="ctr"/>
          <a:lstStyle/>
          <a:p>
            <a:pPr marL="0" indent="0" algn="ctr">
              <a:buNone/>
            </a:pPr>
            <a:r>
              <a:rPr lang="en-US" sz="1000" b="1" dirty="0">
                <a:solidFill>
                  <a:srgbClr val="1F3864"/>
                </a:solidFill>
              </a:rPr>
              <a:t>&gt;</a:t>
            </a:r>
            <a:endParaRPr lang="en-US" sz="1000" dirty="0"/>
          </a:p>
        </p:txBody>
      </p:sp>
      <p:sp>
        <p:nvSpPr>
          <p:cNvPr id="14" name="Shape 12"/>
          <p:cNvSpPr/>
          <p:nvPr/>
        </p:nvSpPr>
        <p:spPr>
          <a:xfrm>
            <a:off x="3703320" y="1115568"/>
            <a:ext cx="1463040" cy="914400"/>
          </a:xfrm>
          <a:prstGeom prst="rect">
            <a:avLst/>
          </a:prstGeom>
          <a:solidFill>
            <a:srgbClr val="F4F4F4"/>
          </a:solidFill>
          <a:ln w="10160">
            <a:solidFill>
              <a:srgbClr val="CCCCCC"/>
            </a:solidFill>
            <a:prstDash val="solid"/>
          </a:ln>
        </p:spPr>
      </p:sp>
      <p:sp>
        <p:nvSpPr>
          <p:cNvPr id="15" name="Text 13"/>
          <p:cNvSpPr/>
          <p:nvPr/>
        </p:nvSpPr>
        <p:spPr>
          <a:xfrm>
            <a:off x="3703320" y="1143000"/>
            <a:ext cx="1463040" cy="320040"/>
          </a:xfrm>
          <a:prstGeom prst="rect">
            <a:avLst/>
          </a:prstGeom>
          <a:noFill/>
          <a:ln/>
        </p:spPr>
        <p:txBody>
          <a:bodyPr wrap="square" rtlCol="0" anchor="ctr"/>
          <a:lstStyle/>
          <a:p>
            <a:pPr marL="0" indent="0" algn="ctr">
              <a:buNone/>
            </a:pPr>
            <a:r>
              <a:rPr lang="en-US" sz="900" b="1" dirty="0">
                <a:solidFill>
                  <a:srgbClr val="1F3864"/>
                </a:solidFill>
              </a:rPr>
              <a:t>3. SMOTE</a:t>
            </a:r>
            <a:endParaRPr lang="en-US" sz="900" dirty="0"/>
          </a:p>
        </p:txBody>
      </p:sp>
      <p:sp>
        <p:nvSpPr>
          <p:cNvPr id="16" name="Text 14"/>
          <p:cNvSpPr/>
          <p:nvPr/>
        </p:nvSpPr>
        <p:spPr>
          <a:xfrm>
            <a:off x="3703320" y="1463040"/>
            <a:ext cx="1463040" cy="502920"/>
          </a:xfrm>
          <a:prstGeom prst="rect">
            <a:avLst/>
          </a:prstGeom>
          <a:noFill/>
          <a:ln/>
        </p:spPr>
        <p:txBody>
          <a:bodyPr wrap="square" rtlCol="0" anchor="ctr"/>
          <a:lstStyle/>
          <a:p>
            <a:pPr marL="0" indent="0" algn="ctr">
              <a:buNone/>
            </a:pPr>
            <a:r>
              <a:rPr lang="en-US" sz="800" dirty="0">
                <a:solidFill>
                  <a:srgbClr val="666666"/>
                </a:solidFill>
              </a:rPr>
              <a:t>Balance</a:t>
            </a:r>
            <a:endParaRPr lang="en-US" sz="800" dirty="0"/>
          </a:p>
          <a:p>
            <a:pPr marL="0" indent="0" algn="ctr">
              <a:buNone/>
            </a:pPr>
            <a:r>
              <a:rPr lang="en-US" sz="800" dirty="0">
                <a:solidFill>
                  <a:srgbClr val="666666"/>
                </a:solidFill>
              </a:rPr>
              <a:t>Classes</a:t>
            </a:r>
            <a:endParaRPr lang="en-US" sz="800" dirty="0"/>
          </a:p>
        </p:txBody>
      </p:sp>
      <p:sp>
        <p:nvSpPr>
          <p:cNvPr id="17" name="Text 15"/>
          <p:cNvSpPr/>
          <p:nvPr/>
        </p:nvSpPr>
        <p:spPr>
          <a:xfrm>
            <a:off x="5166360" y="1435608"/>
            <a:ext cx="228600" cy="320040"/>
          </a:xfrm>
          <a:prstGeom prst="rect">
            <a:avLst/>
          </a:prstGeom>
          <a:noFill/>
          <a:ln/>
        </p:spPr>
        <p:txBody>
          <a:bodyPr wrap="square" rtlCol="0" anchor="ctr"/>
          <a:lstStyle/>
          <a:p>
            <a:pPr marL="0" indent="0" algn="ctr">
              <a:buNone/>
            </a:pPr>
            <a:r>
              <a:rPr lang="en-US" sz="1000" b="1" dirty="0">
                <a:solidFill>
                  <a:srgbClr val="1F3864"/>
                </a:solidFill>
              </a:rPr>
              <a:t>&gt;</a:t>
            </a:r>
            <a:endParaRPr lang="en-US" sz="1000" dirty="0"/>
          </a:p>
        </p:txBody>
      </p:sp>
      <p:sp>
        <p:nvSpPr>
          <p:cNvPr id="18" name="Shape 16"/>
          <p:cNvSpPr/>
          <p:nvPr/>
        </p:nvSpPr>
        <p:spPr>
          <a:xfrm>
            <a:off x="5394960" y="1115568"/>
            <a:ext cx="1463040" cy="914400"/>
          </a:xfrm>
          <a:prstGeom prst="rect">
            <a:avLst/>
          </a:prstGeom>
          <a:solidFill>
            <a:srgbClr val="F4F4F4"/>
          </a:solidFill>
          <a:ln w="10160">
            <a:solidFill>
              <a:srgbClr val="CCCCCC"/>
            </a:solidFill>
            <a:prstDash val="solid"/>
          </a:ln>
        </p:spPr>
      </p:sp>
      <p:sp>
        <p:nvSpPr>
          <p:cNvPr id="19" name="Text 17"/>
          <p:cNvSpPr/>
          <p:nvPr/>
        </p:nvSpPr>
        <p:spPr>
          <a:xfrm>
            <a:off x="5394960" y="1143000"/>
            <a:ext cx="1463040" cy="320040"/>
          </a:xfrm>
          <a:prstGeom prst="rect">
            <a:avLst/>
          </a:prstGeom>
          <a:noFill/>
          <a:ln/>
        </p:spPr>
        <p:txBody>
          <a:bodyPr wrap="square" rtlCol="0" anchor="ctr"/>
          <a:lstStyle/>
          <a:p>
            <a:pPr marL="0" indent="0" algn="ctr">
              <a:buNone/>
            </a:pPr>
            <a:r>
              <a:rPr lang="en-US" sz="900" b="1" dirty="0">
                <a:solidFill>
                  <a:srgbClr val="1F3864"/>
                </a:solidFill>
              </a:rPr>
              <a:t>4. Train Models</a:t>
            </a:r>
            <a:endParaRPr lang="en-US" sz="900" dirty="0"/>
          </a:p>
        </p:txBody>
      </p:sp>
      <p:sp>
        <p:nvSpPr>
          <p:cNvPr id="20" name="Text 18"/>
          <p:cNvSpPr/>
          <p:nvPr/>
        </p:nvSpPr>
        <p:spPr>
          <a:xfrm>
            <a:off x="5394960" y="1463040"/>
            <a:ext cx="1463040" cy="502920"/>
          </a:xfrm>
          <a:prstGeom prst="rect">
            <a:avLst/>
          </a:prstGeom>
          <a:noFill/>
          <a:ln/>
        </p:spPr>
        <p:txBody>
          <a:bodyPr wrap="square" rtlCol="0" anchor="ctr"/>
          <a:lstStyle/>
          <a:p>
            <a:pPr marL="0" indent="0" algn="ctr">
              <a:buNone/>
            </a:pPr>
            <a:r>
              <a:rPr lang="en-US" sz="800" dirty="0">
                <a:solidFill>
                  <a:srgbClr val="666666"/>
                </a:solidFill>
              </a:rPr>
              <a:t>7 Algorithms</a:t>
            </a:r>
            <a:endParaRPr lang="en-US" sz="800" dirty="0"/>
          </a:p>
          <a:p>
            <a:pPr marL="0" indent="0" algn="ctr">
              <a:buNone/>
            </a:pPr>
            <a:r>
              <a:rPr lang="en-US" sz="800" dirty="0">
                <a:solidFill>
                  <a:srgbClr val="666666"/>
                </a:solidFill>
              </a:rPr>
              <a:t>Compared</a:t>
            </a:r>
            <a:endParaRPr lang="en-US" sz="800" dirty="0"/>
          </a:p>
        </p:txBody>
      </p:sp>
      <p:sp>
        <p:nvSpPr>
          <p:cNvPr id="21" name="Text 19"/>
          <p:cNvSpPr/>
          <p:nvPr/>
        </p:nvSpPr>
        <p:spPr>
          <a:xfrm>
            <a:off x="6858000" y="1435608"/>
            <a:ext cx="228600" cy="320040"/>
          </a:xfrm>
          <a:prstGeom prst="rect">
            <a:avLst/>
          </a:prstGeom>
          <a:noFill/>
          <a:ln/>
        </p:spPr>
        <p:txBody>
          <a:bodyPr wrap="square" rtlCol="0" anchor="ctr"/>
          <a:lstStyle/>
          <a:p>
            <a:pPr marL="0" indent="0" algn="ctr">
              <a:buNone/>
            </a:pPr>
            <a:r>
              <a:rPr lang="en-US" sz="1000" b="1" dirty="0">
                <a:solidFill>
                  <a:srgbClr val="1F3864"/>
                </a:solidFill>
              </a:rPr>
              <a:t>&gt;</a:t>
            </a:r>
            <a:endParaRPr lang="en-US" sz="1000" dirty="0"/>
          </a:p>
        </p:txBody>
      </p:sp>
      <p:sp>
        <p:nvSpPr>
          <p:cNvPr id="22" name="Shape 20"/>
          <p:cNvSpPr/>
          <p:nvPr/>
        </p:nvSpPr>
        <p:spPr>
          <a:xfrm>
            <a:off x="7086600" y="1115568"/>
            <a:ext cx="1463040" cy="914400"/>
          </a:xfrm>
          <a:prstGeom prst="rect">
            <a:avLst/>
          </a:prstGeom>
          <a:solidFill>
            <a:srgbClr val="1F3864"/>
          </a:solidFill>
          <a:ln w="10160">
            <a:solidFill>
              <a:srgbClr val="1F3864"/>
            </a:solidFill>
            <a:prstDash val="solid"/>
          </a:ln>
        </p:spPr>
      </p:sp>
      <p:sp>
        <p:nvSpPr>
          <p:cNvPr id="23" name="Text 21"/>
          <p:cNvSpPr/>
          <p:nvPr/>
        </p:nvSpPr>
        <p:spPr>
          <a:xfrm>
            <a:off x="7086600" y="1143000"/>
            <a:ext cx="1463040" cy="320040"/>
          </a:xfrm>
          <a:prstGeom prst="rect">
            <a:avLst/>
          </a:prstGeom>
          <a:noFill/>
          <a:ln/>
        </p:spPr>
        <p:txBody>
          <a:bodyPr wrap="square" rtlCol="0" anchor="ctr"/>
          <a:lstStyle/>
          <a:p>
            <a:pPr marL="0" indent="0" algn="ctr">
              <a:buNone/>
            </a:pPr>
            <a:r>
              <a:rPr lang="en-US" sz="900" b="1" dirty="0">
                <a:solidFill>
                  <a:srgbClr val="FFFFFF"/>
                </a:solidFill>
              </a:rPr>
              <a:t>5. Best Model</a:t>
            </a:r>
            <a:endParaRPr lang="en-US" sz="900" dirty="0"/>
          </a:p>
        </p:txBody>
      </p:sp>
      <p:sp>
        <p:nvSpPr>
          <p:cNvPr id="24" name="Text 22"/>
          <p:cNvSpPr/>
          <p:nvPr/>
        </p:nvSpPr>
        <p:spPr>
          <a:xfrm>
            <a:off x="7086600" y="1463040"/>
            <a:ext cx="1463040" cy="502920"/>
          </a:xfrm>
          <a:prstGeom prst="rect">
            <a:avLst/>
          </a:prstGeom>
          <a:noFill/>
          <a:ln/>
        </p:spPr>
        <p:txBody>
          <a:bodyPr wrap="square" rtlCol="0" anchor="ctr"/>
          <a:lstStyle/>
          <a:p>
            <a:pPr marL="0" indent="0" algn="ctr">
              <a:buNone/>
            </a:pPr>
            <a:r>
              <a:rPr lang="en-US" sz="800" dirty="0">
                <a:solidFill>
                  <a:srgbClr val="CCCCCC"/>
                </a:solidFill>
              </a:rPr>
              <a:t>XGBoost</a:t>
            </a:r>
            <a:endParaRPr lang="en-US" sz="800" dirty="0"/>
          </a:p>
          <a:p>
            <a:pPr marL="0" indent="0" algn="ctr">
              <a:buNone/>
            </a:pPr>
            <a:r>
              <a:rPr lang="en-US" sz="800" dirty="0">
                <a:solidFill>
                  <a:srgbClr val="CCCCCC"/>
                </a:solidFill>
              </a:rPr>
              <a:t>76.62% / 81.37%</a:t>
            </a:r>
            <a:endParaRPr lang="en-US" sz="800" dirty="0"/>
          </a:p>
        </p:txBody>
      </p:sp>
      <p:sp>
        <p:nvSpPr>
          <p:cNvPr id="25" name="Shape 23"/>
          <p:cNvSpPr/>
          <p:nvPr/>
        </p:nvSpPr>
        <p:spPr>
          <a:xfrm>
            <a:off x="320040" y="2148840"/>
            <a:ext cx="8503920" cy="9144"/>
          </a:xfrm>
          <a:prstGeom prst="rect">
            <a:avLst/>
          </a:prstGeom>
          <a:solidFill>
            <a:srgbClr val="CCCCCC"/>
          </a:solidFill>
          <a:ln/>
        </p:spPr>
      </p:sp>
      <p:sp>
        <p:nvSpPr>
          <p:cNvPr id="26" name="Text 24"/>
          <p:cNvSpPr/>
          <p:nvPr/>
        </p:nvSpPr>
        <p:spPr>
          <a:xfrm>
            <a:off x="320040" y="2286000"/>
            <a:ext cx="2743200" cy="292608"/>
          </a:xfrm>
          <a:prstGeom prst="rect">
            <a:avLst/>
          </a:prstGeom>
          <a:noFill/>
          <a:ln/>
        </p:spPr>
        <p:txBody>
          <a:bodyPr wrap="square" rtlCol="0" anchor="ctr"/>
          <a:lstStyle/>
          <a:p>
            <a:pPr marL="0" indent="0">
              <a:buNone/>
            </a:pPr>
            <a:r>
              <a:rPr lang="en-US" sz="1000" b="1" dirty="0">
                <a:solidFill>
                  <a:srgbClr val="1F3864"/>
                </a:solidFill>
              </a:rPr>
              <a:t>Tools Used</a:t>
            </a:r>
            <a:endParaRPr lang="en-US" sz="1000" dirty="0"/>
          </a:p>
        </p:txBody>
      </p:sp>
      <p:sp>
        <p:nvSpPr>
          <p:cNvPr id="27" name="Text 25"/>
          <p:cNvSpPr/>
          <p:nvPr/>
        </p:nvSpPr>
        <p:spPr>
          <a:xfrm>
            <a:off x="365760" y="2624328"/>
            <a:ext cx="2743200" cy="310896"/>
          </a:xfrm>
          <a:prstGeom prst="rect">
            <a:avLst/>
          </a:prstGeom>
          <a:noFill/>
          <a:ln/>
        </p:spPr>
        <p:txBody>
          <a:bodyPr wrap="square" rtlCol="0" anchor="ctr"/>
          <a:lstStyle/>
          <a:p>
            <a:pPr marL="0" indent="0">
              <a:buNone/>
            </a:pPr>
            <a:r>
              <a:rPr lang="en-US" sz="850" dirty="0">
                <a:solidFill>
                  <a:srgbClr val="444444"/>
                </a:solidFill>
              </a:rPr>
              <a:t>- Python 3.x</a:t>
            </a:r>
            <a:endParaRPr lang="en-US" sz="850" dirty="0"/>
          </a:p>
        </p:txBody>
      </p:sp>
      <p:sp>
        <p:nvSpPr>
          <p:cNvPr id="28" name="Text 26"/>
          <p:cNvSpPr/>
          <p:nvPr/>
        </p:nvSpPr>
        <p:spPr>
          <a:xfrm>
            <a:off x="365760" y="2953512"/>
            <a:ext cx="2743200" cy="310896"/>
          </a:xfrm>
          <a:prstGeom prst="rect">
            <a:avLst/>
          </a:prstGeom>
          <a:noFill/>
          <a:ln/>
        </p:spPr>
        <p:txBody>
          <a:bodyPr wrap="square" rtlCol="0" anchor="ctr"/>
          <a:lstStyle/>
          <a:p>
            <a:pPr marL="0" indent="0">
              <a:buNone/>
            </a:pPr>
            <a:r>
              <a:rPr lang="en-US" sz="850" dirty="0">
                <a:solidFill>
                  <a:srgbClr val="444444"/>
                </a:solidFill>
              </a:rPr>
              <a:t>- Scikit-learn</a:t>
            </a:r>
            <a:endParaRPr lang="en-US" sz="850" dirty="0"/>
          </a:p>
        </p:txBody>
      </p:sp>
      <p:sp>
        <p:nvSpPr>
          <p:cNvPr id="29" name="Text 27"/>
          <p:cNvSpPr/>
          <p:nvPr/>
        </p:nvSpPr>
        <p:spPr>
          <a:xfrm>
            <a:off x="365760" y="3282696"/>
            <a:ext cx="2743200" cy="310896"/>
          </a:xfrm>
          <a:prstGeom prst="rect">
            <a:avLst/>
          </a:prstGeom>
          <a:noFill/>
          <a:ln/>
        </p:spPr>
        <p:txBody>
          <a:bodyPr wrap="square" rtlCol="0" anchor="ctr"/>
          <a:lstStyle/>
          <a:p>
            <a:pPr marL="0" indent="0">
              <a:buNone/>
            </a:pPr>
            <a:r>
              <a:rPr lang="en-US" sz="850" dirty="0">
                <a:solidFill>
                  <a:srgbClr val="444444"/>
                </a:solidFill>
              </a:rPr>
              <a:t>- XGBoost</a:t>
            </a:r>
            <a:endParaRPr lang="en-US" sz="850" dirty="0"/>
          </a:p>
        </p:txBody>
      </p:sp>
      <p:sp>
        <p:nvSpPr>
          <p:cNvPr id="30" name="Text 28"/>
          <p:cNvSpPr/>
          <p:nvPr/>
        </p:nvSpPr>
        <p:spPr>
          <a:xfrm>
            <a:off x="365760" y="3611880"/>
            <a:ext cx="2743200" cy="310896"/>
          </a:xfrm>
          <a:prstGeom prst="rect">
            <a:avLst/>
          </a:prstGeom>
          <a:noFill/>
          <a:ln/>
        </p:spPr>
        <p:txBody>
          <a:bodyPr wrap="square" rtlCol="0" anchor="ctr"/>
          <a:lstStyle/>
          <a:p>
            <a:pPr marL="0" indent="0">
              <a:buNone/>
            </a:pPr>
            <a:r>
              <a:rPr lang="en-US" sz="850" dirty="0">
                <a:solidFill>
                  <a:srgbClr val="444444"/>
                </a:solidFill>
              </a:rPr>
              <a:t>- SMOTE (imbalanced-learn)</a:t>
            </a:r>
            <a:endParaRPr lang="en-US" sz="850" dirty="0"/>
          </a:p>
        </p:txBody>
      </p:sp>
      <p:sp>
        <p:nvSpPr>
          <p:cNvPr id="31" name="Text 29"/>
          <p:cNvSpPr/>
          <p:nvPr/>
        </p:nvSpPr>
        <p:spPr>
          <a:xfrm>
            <a:off x="365760" y="3941064"/>
            <a:ext cx="2743200" cy="310896"/>
          </a:xfrm>
          <a:prstGeom prst="rect">
            <a:avLst/>
          </a:prstGeom>
          <a:noFill/>
          <a:ln/>
        </p:spPr>
        <p:txBody>
          <a:bodyPr wrap="square" rtlCol="0" anchor="ctr"/>
          <a:lstStyle/>
          <a:p>
            <a:pPr marL="0" indent="0">
              <a:buNone/>
            </a:pPr>
            <a:r>
              <a:rPr lang="en-US" sz="850" dirty="0">
                <a:solidFill>
                  <a:srgbClr val="444444"/>
                </a:solidFill>
              </a:rPr>
              <a:t>- Pandas, NumPy</a:t>
            </a:r>
            <a:endParaRPr lang="en-US" sz="850" dirty="0"/>
          </a:p>
        </p:txBody>
      </p:sp>
      <p:sp>
        <p:nvSpPr>
          <p:cNvPr id="32" name="Text 30"/>
          <p:cNvSpPr/>
          <p:nvPr/>
        </p:nvSpPr>
        <p:spPr>
          <a:xfrm>
            <a:off x="365760" y="4270248"/>
            <a:ext cx="2743200" cy="310896"/>
          </a:xfrm>
          <a:prstGeom prst="rect">
            <a:avLst/>
          </a:prstGeom>
          <a:noFill/>
          <a:ln/>
        </p:spPr>
        <p:txBody>
          <a:bodyPr wrap="square" rtlCol="0" anchor="ctr"/>
          <a:lstStyle/>
          <a:p>
            <a:pPr marL="0" indent="0">
              <a:buNone/>
            </a:pPr>
            <a:r>
              <a:rPr lang="en-US" sz="850" dirty="0">
                <a:solidFill>
                  <a:srgbClr val="444444"/>
                </a:solidFill>
              </a:rPr>
              <a:t>- Streamlit (Web App)</a:t>
            </a:r>
            <a:endParaRPr lang="en-US" sz="850" dirty="0"/>
          </a:p>
        </p:txBody>
      </p:sp>
      <p:sp>
        <p:nvSpPr>
          <p:cNvPr id="33" name="Text 31"/>
          <p:cNvSpPr/>
          <p:nvPr/>
        </p:nvSpPr>
        <p:spPr>
          <a:xfrm>
            <a:off x="365760" y="4599432"/>
            <a:ext cx="2743200" cy="310896"/>
          </a:xfrm>
          <a:prstGeom prst="rect">
            <a:avLst/>
          </a:prstGeom>
          <a:noFill/>
          <a:ln/>
        </p:spPr>
        <p:txBody>
          <a:bodyPr wrap="square" rtlCol="0" anchor="ctr"/>
          <a:lstStyle/>
          <a:p>
            <a:pPr marL="0" indent="0">
              <a:buNone/>
            </a:pPr>
            <a:r>
              <a:rPr lang="en-US" sz="850" dirty="0">
                <a:solidFill>
                  <a:srgbClr val="444444"/>
                </a:solidFill>
              </a:rPr>
              <a:t>- Pickle (Model Saving)</a:t>
            </a:r>
            <a:endParaRPr lang="en-US" sz="850" dirty="0"/>
          </a:p>
        </p:txBody>
      </p:sp>
      <p:sp>
        <p:nvSpPr>
          <p:cNvPr id="34" name="Text 32"/>
          <p:cNvSpPr/>
          <p:nvPr/>
        </p:nvSpPr>
        <p:spPr>
          <a:xfrm>
            <a:off x="365760" y="4928616"/>
            <a:ext cx="2743200" cy="310896"/>
          </a:xfrm>
          <a:prstGeom prst="rect">
            <a:avLst/>
          </a:prstGeom>
          <a:noFill/>
          <a:ln/>
        </p:spPr>
        <p:txBody>
          <a:bodyPr wrap="square" rtlCol="0" anchor="ctr"/>
          <a:lstStyle/>
          <a:p>
            <a:pPr marL="0" indent="0">
              <a:buNone/>
            </a:pPr>
            <a:r>
              <a:rPr lang="en-US" sz="850" dirty="0">
                <a:solidFill>
                  <a:srgbClr val="444444"/>
                </a:solidFill>
              </a:rPr>
              <a:t>- Plotly (Charts)</a:t>
            </a:r>
            <a:endParaRPr lang="en-US" sz="850" dirty="0"/>
          </a:p>
        </p:txBody>
      </p:sp>
      <p:sp>
        <p:nvSpPr>
          <p:cNvPr id="35" name="Text 33"/>
          <p:cNvSpPr/>
          <p:nvPr/>
        </p:nvSpPr>
        <p:spPr>
          <a:xfrm>
            <a:off x="3264408" y="2286000"/>
            <a:ext cx="2743200" cy="292608"/>
          </a:xfrm>
          <a:prstGeom prst="rect">
            <a:avLst/>
          </a:prstGeom>
          <a:noFill/>
          <a:ln/>
        </p:spPr>
        <p:txBody>
          <a:bodyPr wrap="square" rtlCol="0" anchor="ctr"/>
          <a:lstStyle/>
          <a:p>
            <a:pPr marL="0" indent="0">
              <a:buNone/>
            </a:pPr>
            <a:r>
              <a:rPr lang="en-US" sz="1000" b="1" dirty="0">
                <a:solidFill>
                  <a:srgbClr val="1F3864"/>
                </a:solidFill>
              </a:rPr>
              <a:t>How the System Works</a:t>
            </a:r>
            <a:endParaRPr lang="en-US" sz="1000" dirty="0"/>
          </a:p>
        </p:txBody>
      </p:sp>
      <p:sp>
        <p:nvSpPr>
          <p:cNvPr id="36" name="Text 34"/>
          <p:cNvSpPr/>
          <p:nvPr/>
        </p:nvSpPr>
        <p:spPr>
          <a:xfrm>
            <a:off x="3310128" y="2624328"/>
            <a:ext cx="2743200" cy="310896"/>
          </a:xfrm>
          <a:prstGeom prst="rect">
            <a:avLst/>
          </a:prstGeom>
          <a:noFill/>
          <a:ln/>
        </p:spPr>
        <p:txBody>
          <a:bodyPr wrap="square" rtlCol="0" anchor="ctr"/>
          <a:lstStyle/>
          <a:p>
            <a:pPr marL="0" indent="0">
              <a:buNone/>
            </a:pPr>
            <a:r>
              <a:rPr lang="en-US" sz="850" dirty="0">
                <a:solidFill>
                  <a:srgbClr val="444444"/>
                </a:solidFill>
              </a:rPr>
              <a:t>- User enters clinical values in web form</a:t>
            </a:r>
            <a:endParaRPr lang="en-US" sz="850" dirty="0"/>
          </a:p>
        </p:txBody>
      </p:sp>
      <p:sp>
        <p:nvSpPr>
          <p:cNvPr id="37" name="Text 35"/>
          <p:cNvSpPr/>
          <p:nvPr/>
        </p:nvSpPr>
        <p:spPr>
          <a:xfrm>
            <a:off x="3310128" y="2953512"/>
            <a:ext cx="2743200" cy="310896"/>
          </a:xfrm>
          <a:prstGeom prst="rect">
            <a:avLst/>
          </a:prstGeom>
          <a:noFill/>
          <a:ln/>
        </p:spPr>
        <p:txBody>
          <a:bodyPr wrap="square" rtlCol="0" anchor="ctr"/>
          <a:lstStyle/>
          <a:p>
            <a:pPr marL="0" indent="0">
              <a:buNone/>
            </a:pPr>
            <a:r>
              <a:rPr lang="en-US" sz="850" dirty="0">
                <a:solidFill>
                  <a:srgbClr val="444444"/>
                </a:solidFill>
              </a:rPr>
              <a:t>- Input normalised using StandardScaler</a:t>
            </a:r>
            <a:endParaRPr lang="en-US" sz="850" dirty="0"/>
          </a:p>
        </p:txBody>
      </p:sp>
      <p:sp>
        <p:nvSpPr>
          <p:cNvPr id="38" name="Text 36"/>
          <p:cNvSpPr/>
          <p:nvPr/>
        </p:nvSpPr>
        <p:spPr>
          <a:xfrm>
            <a:off x="3310128" y="3282696"/>
            <a:ext cx="2743200" cy="310896"/>
          </a:xfrm>
          <a:prstGeom prst="rect">
            <a:avLst/>
          </a:prstGeom>
          <a:noFill/>
          <a:ln/>
        </p:spPr>
        <p:txBody>
          <a:bodyPr wrap="square" rtlCol="0" anchor="ctr"/>
          <a:lstStyle/>
          <a:p>
            <a:pPr marL="0" indent="0">
              <a:buNone/>
            </a:pPr>
            <a:r>
              <a:rPr lang="en-US" sz="850" dirty="0">
                <a:solidFill>
                  <a:srgbClr val="444444"/>
                </a:solidFill>
              </a:rPr>
              <a:t>- XGBoost model predicts probability</a:t>
            </a:r>
            <a:endParaRPr lang="en-US" sz="850" dirty="0"/>
          </a:p>
        </p:txBody>
      </p:sp>
      <p:sp>
        <p:nvSpPr>
          <p:cNvPr id="39" name="Text 37"/>
          <p:cNvSpPr/>
          <p:nvPr/>
        </p:nvSpPr>
        <p:spPr>
          <a:xfrm>
            <a:off x="3310128" y="3611880"/>
            <a:ext cx="2743200" cy="310896"/>
          </a:xfrm>
          <a:prstGeom prst="rect">
            <a:avLst/>
          </a:prstGeom>
          <a:noFill/>
          <a:ln/>
        </p:spPr>
        <p:txBody>
          <a:bodyPr wrap="square" rtlCol="0" anchor="ctr"/>
          <a:lstStyle/>
          <a:p>
            <a:pPr marL="0" indent="0">
              <a:buNone/>
            </a:pPr>
            <a:r>
              <a:rPr lang="en-US" sz="850" dirty="0">
                <a:solidFill>
                  <a:srgbClr val="444444"/>
                </a:solidFill>
              </a:rPr>
              <a:t>- Probability converted to 0-100 score</a:t>
            </a:r>
            <a:endParaRPr lang="en-US" sz="850" dirty="0"/>
          </a:p>
        </p:txBody>
      </p:sp>
      <p:sp>
        <p:nvSpPr>
          <p:cNvPr id="40" name="Text 38"/>
          <p:cNvSpPr/>
          <p:nvPr/>
        </p:nvSpPr>
        <p:spPr>
          <a:xfrm>
            <a:off x="3310128" y="3941064"/>
            <a:ext cx="2743200" cy="310896"/>
          </a:xfrm>
          <a:prstGeom prst="rect">
            <a:avLst/>
          </a:prstGeom>
          <a:noFill/>
          <a:ln/>
        </p:spPr>
        <p:txBody>
          <a:bodyPr wrap="square" rtlCol="0" anchor="ctr"/>
          <a:lstStyle/>
          <a:p>
            <a:pPr marL="0" indent="0">
              <a:buNone/>
            </a:pPr>
            <a:r>
              <a:rPr lang="en-US" sz="850" dirty="0">
                <a:solidFill>
                  <a:srgbClr val="444444"/>
                </a:solidFill>
              </a:rPr>
              <a:t>- Risk level and recommendations shown</a:t>
            </a:r>
            <a:endParaRPr lang="en-US" sz="850" dirty="0"/>
          </a:p>
        </p:txBody>
      </p:sp>
      <p:sp>
        <p:nvSpPr>
          <p:cNvPr id="41" name="Text 39"/>
          <p:cNvSpPr/>
          <p:nvPr/>
        </p:nvSpPr>
        <p:spPr>
          <a:xfrm>
            <a:off x="3310128" y="4270248"/>
            <a:ext cx="2743200" cy="310896"/>
          </a:xfrm>
          <a:prstGeom prst="rect">
            <a:avLst/>
          </a:prstGeom>
          <a:noFill/>
          <a:ln/>
        </p:spPr>
        <p:txBody>
          <a:bodyPr wrap="square" rtlCol="0" anchor="ctr"/>
          <a:lstStyle/>
          <a:p>
            <a:pPr marL="0" indent="0">
              <a:buNone/>
            </a:pPr>
            <a:r>
              <a:rPr lang="en-US" sz="850" dirty="0">
                <a:solidFill>
                  <a:srgbClr val="444444"/>
                </a:solidFill>
              </a:rPr>
              <a:t>- PDF report available for download</a:t>
            </a:r>
            <a:endParaRPr lang="en-US" sz="850" dirty="0"/>
          </a:p>
        </p:txBody>
      </p:sp>
      <p:sp>
        <p:nvSpPr>
          <p:cNvPr id="42" name="Text 40"/>
          <p:cNvSpPr/>
          <p:nvPr/>
        </p:nvSpPr>
        <p:spPr>
          <a:xfrm>
            <a:off x="6208776" y="2286000"/>
            <a:ext cx="2743200" cy="292608"/>
          </a:xfrm>
          <a:prstGeom prst="rect">
            <a:avLst/>
          </a:prstGeom>
          <a:noFill/>
          <a:ln/>
        </p:spPr>
        <p:txBody>
          <a:bodyPr wrap="square" rtlCol="0" anchor="ctr"/>
          <a:lstStyle/>
          <a:p>
            <a:pPr marL="0" indent="0">
              <a:buNone/>
            </a:pPr>
            <a:r>
              <a:rPr lang="en-US" sz="1000" b="1" dirty="0">
                <a:solidFill>
                  <a:srgbClr val="1F3864"/>
                </a:solidFill>
              </a:rPr>
              <a:t>Unique Contributions</a:t>
            </a:r>
            <a:endParaRPr lang="en-US" sz="1000" dirty="0"/>
          </a:p>
        </p:txBody>
      </p:sp>
      <p:sp>
        <p:nvSpPr>
          <p:cNvPr id="43" name="Text 41"/>
          <p:cNvSpPr/>
          <p:nvPr/>
        </p:nvSpPr>
        <p:spPr>
          <a:xfrm>
            <a:off x="6254496" y="2624328"/>
            <a:ext cx="2743200" cy="310896"/>
          </a:xfrm>
          <a:prstGeom prst="rect">
            <a:avLst/>
          </a:prstGeom>
          <a:noFill/>
          <a:ln/>
        </p:spPr>
        <p:txBody>
          <a:bodyPr wrap="square" rtlCol="0" anchor="ctr"/>
          <a:lstStyle/>
          <a:p>
            <a:pPr marL="0" indent="0">
              <a:buNone/>
            </a:pPr>
            <a:r>
              <a:rPr lang="en-US" sz="850" dirty="0">
                <a:solidFill>
                  <a:srgbClr val="444444"/>
                </a:solidFill>
              </a:rPr>
              <a:t>- Predicts Diabetes + Heart Disease together</a:t>
            </a:r>
            <a:endParaRPr lang="en-US" sz="850" dirty="0"/>
          </a:p>
        </p:txBody>
      </p:sp>
      <p:sp>
        <p:nvSpPr>
          <p:cNvPr id="44" name="Text 42"/>
          <p:cNvSpPr/>
          <p:nvPr/>
        </p:nvSpPr>
        <p:spPr>
          <a:xfrm>
            <a:off x="6254496" y="2953512"/>
            <a:ext cx="2743200" cy="310896"/>
          </a:xfrm>
          <a:prstGeom prst="rect">
            <a:avLst/>
          </a:prstGeom>
          <a:noFill/>
          <a:ln/>
        </p:spPr>
        <p:txBody>
          <a:bodyPr wrap="square" rtlCol="0" anchor="ctr"/>
          <a:lstStyle/>
          <a:p>
            <a:pPr marL="0" indent="0">
              <a:buNone/>
            </a:pPr>
            <a:r>
              <a:rPr lang="en-US" sz="850" dirty="0">
                <a:solidFill>
                  <a:srgbClr val="444444"/>
                </a:solidFill>
              </a:rPr>
              <a:t>- 0-100 Risk Score with 3 severity levels</a:t>
            </a:r>
            <a:endParaRPr lang="en-US" sz="850" dirty="0"/>
          </a:p>
        </p:txBody>
      </p:sp>
      <p:sp>
        <p:nvSpPr>
          <p:cNvPr id="45" name="Text 43"/>
          <p:cNvSpPr/>
          <p:nvPr/>
        </p:nvSpPr>
        <p:spPr>
          <a:xfrm>
            <a:off x="6254496" y="3282696"/>
            <a:ext cx="2743200" cy="310896"/>
          </a:xfrm>
          <a:prstGeom prst="rect">
            <a:avLst/>
          </a:prstGeom>
          <a:noFill/>
          <a:ln/>
        </p:spPr>
        <p:txBody>
          <a:bodyPr wrap="square" rtlCol="0" anchor="ctr"/>
          <a:lstStyle/>
          <a:p>
            <a:pPr marL="0" indent="0">
              <a:buNone/>
            </a:pPr>
            <a:r>
              <a:rPr lang="en-US" sz="850" dirty="0">
                <a:solidFill>
                  <a:srgbClr val="444444"/>
                </a:solidFill>
              </a:rPr>
              <a:t>- 4 engineered clinical features added</a:t>
            </a:r>
            <a:endParaRPr lang="en-US" sz="850" dirty="0"/>
          </a:p>
        </p:txBody>
      </p:sp>
      <p:sp>
        <p:nvSpPr>
          <p:cNvPr id="46" name="Text 44"/>
          <p:cNvSpPr/>
          <p:nvPr/>
        </p:nvSpPr>
        <p:spPr>
          <a:xfrm>
            <a:off x="6254496" y="3611880"/>
            <a:ext cx="2743200" cy="310896"/>
          </a:xfrm>
          <a:prstGeom prst="rect">
            <a:avLst/>
          </a:prstGeom>
          <a:noFill/>
          <a:ln/>
        </p:spPr>
        <p:txBody>
          <a:bodyPr wrap="square" rtlCol="0" anchor="ctr"/>
          <a:lstStyle/>
          <a:p>
            <a:pPr marL="0" indent="0">
              <a:buNone/>
            </a:pPr>
            <a:r>
              <a:rPr lang="en-US" sz="850" dirty="0">
                <a:solidFill>
                  <a:srgbClr val="444444"/>
                </a:solidFill>
              </a:rPr>
              <a:t>- age_risk: most important predictor (0.218)</a:t>
            </a:r>
            <a:endParaRPr lang="en-US" sz="850" dirty="0"/>
          </a:p>
        </p:txBody>
      </p:sp>
      <p:sp>
        <p:nvSpPr>
          <p:cNvPr id="47" name="Text 45"/>
          <p:cNvSpPr/>
          <p:nvPr/>
        </p:nvSpPr>
        <p:spPr>
          <a:xfrm>
            <a:off x="6254496" y="3941064"/>
            <a:ext cx="2743200" cy="310896"/>
          </a:xfrm>
          <a:prstGeom prst="rect">
            <a:avLst/>
          </a:prstGeom>
          <a:noFill/>
          <a:ln/>
        </p:spPr>
        <p:txBody>
          <a:bodyPr wrap="square" rtlCol="0" anchor="ctr"/>
          <a:lstStyle/>
          <a:p>
            <a:pPr marL="0" indent="0">
              <a:buNone/>
            </a:pPr>
            <a:r>
              <a:rPr lang="en-US" sz="850" dirty="0">
                <a:solidFill>
                  <a:srgbClr val="444444"/>
                </a:solidFill>
              </a:rPr>
              <a:t>- SMOTE corrects class imbalance</a:t>
            </a:r>
            <a:endParaRPr lang="en-US" sz="850" dirty="0"/>
          </a:p>
        </p:txBody>
      </p:sp>
      <p:sp>
        <p:nvSpPr>
          <p:cNvPr id="48" name="Text 46"/>
          <p:cNvSpPr/>
          <p:nvPr/>
        </p:nvSpPr>
        <p:spPr>
          <a:xfrm>
            <a:off x="6254496" y="4270248"/>
            <a:ext cx="2743200" cy="310896"/>
          </a:xfrm>
          <a:prstGeom prst="rect">
            <a:avLst/>
          </a:prstGeom>
          <a:noFill/>
          <a:ln/>
        </p:spPr>
        <p:txBody>
          <a:bodyPr wrap="square" rtlCol="0" anchor="ctr"/>
          <a:lstStyle/>
          <a:p>
            <a:pPr marL="0" indent="0">
              <a:buNone/>
            </a:pPr>
            <a:r>
              <a:rPr lang="en-US" sz="850" dirty="0">
                <a:solidFill>
                  <a:srgbClr val="444444"/>
                </a:solidFill>
              </a:rPr>
              <a:t>- 7 models compared — XGBoost best</a:t>
            </a:r>
            <a:endParaRPr lang="en-US" sz="850" dirty="0"/>
          </a:p>
        </p:txBody>
      </p:sp>
      <p:sp>
        <p:nvSpPr>
          <p:cNvPr id="50" name="Text 48"/>
          <p:cNvSpPr/>
          <p:nvPr/>
        </p:nvSpPr>
        <p:spPr>
          <a:xfrm>
            <a:off x="0" y="4983480"/>
            <a:ext cx="9144000" cy="160020"/>
          </a:xfrm>
          <a:prstGeom prst="rect">
            <a:avLst/>
          </a:prstGeom>
          <a:noFill/>
          <a:ln/>
        </p:spPr>
        <p:txBody>
          <a:bodyPr wrap="square" rtlCol="0" anchor="ctr"/>
          <a:lstStyle/>
          <a:p>
            <a:pPr marL="0" indent="0" algn="ctr">
              <a:buNone/>
            </a:pPr>
            <a:r>
              <a:rPr lang="en-US" sz="800" dirty="0">
                <a:solidFill>
                  <a:srgbClr val="FFFFFF"/>
                </a:solidFill>
              </a:rPr>
              <a:t>Pritesh Raj  |  230103035  |  B.Tech CSE (AI &amp; DS)  |  IIIT Senapati, Manipur</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F3864"/>
          </a:solidFill>
          <a:ln/>
        </p:spPr>
      </p:sp>
      <p:sp>
        <p:nvSpPr>
          <p:cNvPr id="3" name="Text 1"/>
          <p:cNvSpPr/>
          <p:nvPr/>
        </p:nvSpPr>
        <p:spPr>
          <a:xfrm>
            <a:off x="320040" y="91440"/>
            <a:ext cx="7772400" cy="457200"/>
          </a:xfrm>
          <a:prstGeom prst="rect">
            <a:avLst/>
          </a:prstGeom>
          <a:noFill/>
          <a:ln/>
        </p:spPr>
        <p:txBody>
          <a:bodyPr wrap="square" rtlCol="0" anchor="ctr"/>
          <a:lstStyle/>
          <a:p>
            <a:pPr marL="0" indent="0">
              <a:buNone/>
            </a:pPr>
            <a:r>
              <a:rPr lang="en-US" sz="2000" b="1" dirty="0">
                <a:solidFill>
                  <a:srgbClr val="FFFFFF"/>
                </a:solidFill>
              </a:rPr>
              <a:t>Results and Analysis</a:t>
            </a:r>
            <a:endParaRPr lang="en-US" sz="2000" dirty="0"/>
          </a:p>
        </p:txBody>
      </p:sp>
      <p:sp>
        <p:nvSpPr>
          <p:cNvPr id="4" name="Text 2"/>
          <p:cNvSpPr/>
          <p:nvPr/>
        </p:nvSpPr>
        <p:spPr>
          <a:xfrm>
            <a:off x="7772400" y="182880"/>
            <a:ext cx="1234440" cy="274320"/>
          </a:xfrm>
          <a:prstGeom prst="rect">
            <a:avLst/>
          </a:prstGeom>
          <a:noFill/>
          <a:ln/>
        </p:spPr>
        <p:txBody>
          <a:bodyPr wrap="square" rtlCol="0" anchor="ctr"/>
          <a:lstStyle/>
          <a:p>
            <a:pPr marL="0" indent="0" algn="r">
              <a:buNone/>
            </a:pPr>
            <a:endParaRPr lang="en-US" sz="800" dirty="0"/>
          </a:p>
        </p:txBody>
      </p:sp>
      <p:sp>
        <p:nvSpPr>
          <p:cNvPr id="5" name="Text 3"/>
          <p:cNvSpPr/>
          <p:nvPr/>
        </p:nvSpPr>
        <p:spPr>
          <a:xfrm>
            <a:off x="320040" y="749808"/>
            <a:ext cx="8229600" cy="274320"/>
          </a:xfrm>
          <a:prstGeom prst="rect">
            <a:avLst/>
          </a:prstGeom>
          <a:noFill/>
          <a:ln/>
        </p:spPr>
        <p:txBody>
          <a:bodyPr wrap="square" rtlCol="0" anchor="ctr"/>
          <a:lstStyle/>
          <a:p>
            <a:pPr marL="0" indent="0">
              <a:buNone/>
            </a:pPr>
            <a:r>
              <a:rPr lang="en-US" sz="1100" b="1" dirty="0">
                <a:solidFill>
                  <a:srgbClr val="1F3864"/>
                </a:solidFill>
              </a:rPr>
              <a:t>Datasets Used</a:t>
            </a:r>
            <a:endParaRPr lang="en-US" sz="1100" dirty="0"/>
          </a:p>
        </p:txBody>
      </p:sp>
      <p:sp>
        <p:nvSpPr>
          <p:cNvPr id="6" name="Shape 4"/>
          <p:cNvSpPr/>
          <p:nvPr/>
        </p:nvSpPr>
        <p:spPr>
          <a:xfrm>
            <a:off x="320040" y="1051560"/>
            <a:ext cx="8503920" cy="384048"/>
          </a:xfrm>
          <a:prstGeom prst="rect">
            <a:avLst/>
          </a:prstGeom>
          <a:solidFill>
            <a:srgbClr val="F4F4F4"/>
          </a:solidFill>
          <a:ln w="6350">
            <a:solidFill>
              <a:srgbClr val="CCCCCC"/>
            </a:solidFill>
            <a:prstDash val="solid"/>
          </a:ln>
        </p:spPr>
      </p:sp>
      <p:sp>
        <p:nvSpPr>
          <p:cNvPr id="7" name="Text 5"/>
          <p:cNvSpPr/>
          <p:nvPr/>
        </p:nvSpPr>
        <p:spPr>
          <a:xfrm>
            <a:off x="457200" y="1078992"/>
            <a:ext cx="2926080" cy="320040"/>
          </a:xfrm>
          <a:prstGeom prst="rect">
            <a:avLst/>
          </a:prstGeom>
          <a:noFill/>
          <a:ln/>
        </p:spPr>
        <p:txBody>
          <a:bodyPr wrap="square" rtlCol="0" anchor="ctr"/>
          <a:lstStyle/>
          <a:p>
            <a:pPr marL="0" indent="0">
              <a:buNone/>
            </a:pPr>
            <a:r>
              <a:rPr lang="en-US" sz="950" b="1" dirty="0">
                <a:solidFill>
                  <a:srgbClr val="1F3864"/>
                </a:solidFill>
              </a:rPr>
              <a:t>Diabetes: PIMA Indians Dataset</a:t>
            </a:r>
            <a:endParaRPr lang="en-US" sz="950" dirty="0"/>
          </a:p>
        </p:txBody>
      </p:sp>
      <p:sp>
        <p:nvSpPr>
          <p:cNvPr id="8" name="Text 6"/>
          <p:cNvSpPr/>
          <p:nvPr/>
        </p:nvSpPr>
        <p:spPr>
          <a:xfrm>
            <a:off x="3474720" y="1078992"/>
            <a:ext cx="5212080" cy="320040"/>
          </a:xfrm>
          <a:prstGeom prst="rect">
            <a:avLst/>
          </a:prstGeom>
          <a:noFill/>
          <a:ln/>
        </p:spPr>
        <p:txBody>
          <a:bodyPr wrap="square" rtlCol="0" anchor="ctr"/>
          <a:lstStyle/>
          <a:p>
            <a:pPr marL="0" indent="0">
              <a:buNone/>
            </a:pPr>
            <a:r>
              <a:rPr lang="en-US" sz="900" dirty="0">
                <a:solidFill>
                  <a:srgbClr val="444444"/>
                </a:solidFill>
              </a:rPr>
              <a:t>768 records  |  8 features  |  Target: Outcome (0/1)  |  Class: 65% No Diabetes, 35% Diabetes</a:t>
            </a:r>
            <a:endParaRPr lang="en-US" sz="900" dirty="0"/>
          </a:p>
        </p:txBody>
      </p:sp>
      <p:sp>
        <p:nvSpPr>
          <p:cNvPr id="9" name="Shape 7"/>
          <p:cNvSpPr/>
          <p:nvPr/>
        </p:nvSpPr>
        <p:spPr>
          <a:xfrm>
            <a:off x="320040" y="1508760"/>
            <a:ext cx="8503920" cy="384048"/>
          </a:xfrm>
          <a:prstGeom prst="rect">
            <a:avLst/>
          </a:prstGeom>
          <a:solidFill>
            <a:srgbClr val="F4F4F4"/>
          </a:solidFill>
          <a:ln w="6350">
            <a:solidFill>
              <a:srgbClr val="CCCCCC"/>
            </a:solidFill>
            <a:prstDash val="solid"/>
          </a:ln>
        </p:spPr>
      </p:sp>
      <p:sp>
        <p:nvSpPr>
          <p:cNvPr id="10" name="Text 8"/>
          <p:cNvSpPr/>
          <p:nvPr/>
        </p:nvSpPr>
        <p:spPr>
          <a:xfrm>
            <a:off x="457200" y="1536192"/>
            <a:ext cx="2926080" cy="320040"/>
          </a:xfrm>
          <a:prstGeom prst="rect">
            <a:avLst/>
          </a:prstGeom>
          <a:noFill/>
          <a:ln/>
        </p:spPr>
        <p:txBody>
          <a:bodyPr wrap="square" rtlCol="0" anchor="ctr"/>
          <a:lstStyle/>
          <a:p>
            <a:pPr marL="0" indent="0">
              <a:buNone/>
            </a:pPr>
            <a:r>
              <a:rPr lang="en-US" sz="950" b="1" dirty="0">
                <a:solidFill>
                  <a:srgbClr val="1F3864"/>
                </a:solidFill>
              </a:rPr>
              <a:t>Heart Disease: Framingham Heart Study</a:t>
            </a:r>
            <a:endParaRPr lang="en-US" sz="950" dirty="0"/>
          </a:p>
        </p:txBody>
      </p:sp>
      <p:sp>
        <p:nvSpPr>
          <p:cNvPr id="11" name="Text 9"/>
          <p:cNvSpPr/>
          <p:nvPr/>
        </p:nvSpPr>
        <p:spPr>
          <a:xfrm>
            <a:off x="3474720" y="1536192"/>
            <a:ext cx="5212080" cy="320040"/>
          </a:xfrm>
          <a:prstGeom prst="rect">
            <a:avLst/>
          </a:prstGeom>
          <a:noFill/>
          <a:ln/>
        </p:spPr>
        <p:txBody>
          <a:bodyPr wrap="square" rtlCol="0" anchor="ctr"/>
          <a:lstStyle/>
          <a:p>
            <a:pPr marL="0" indent="0">
              <a:buNone/>
            </a:pPr>
            <a:r>
              <a:rPr lang="en-US" sz="900" dirty="0">
                <a:solidFill>
                  <a:srgbClr val="444444"/>
                </a:solidFill>
              </a:rPr>
              <a:t>4,240 records  |  15 features  |  Target: TenYearCHD (0/1)  |  Class: 84.8% No CHD, 15.2% CHD</a:t>
            </a:r>
            <a:endParaRPr lang="en-US" sz="900" dirty="0"/>
          </a:p>
        </p:txBody>
      </p:sp>
      <p:sp>
        <p:nvSpPr>
          <p:cNvPr id="12" name="Text 10"/>
          <p:cNvSpPr/>
          <p:nvPr/>
        </p:nvSpPr>
        <p:spPr>
          <a:xfrm>
            <a:off x="320040" y="2029968"/>
            <a:ext cx="4114800" cy="274320"/>
          </a:xfrm>
          <a:prstGeom prst="rect">
            <a:avLst/>
          </a:prstGeom>
          <a:noFill/>
          <a:ln/>
        </p:spPr>
        <p:txBody>
          <a:bodyPr wrap="square" rtlCol="0" anchor="ctr"/>
          <a:lstStyle/>
          <a:p>
            <a:pPr marL="0" indent="0">
              <a:buNone/>
            </a:pPr>
            <a:r>
              <a:rPr lang="en-US" sz="1050" b="1" dirty="0">
                <a:solidFill>
                  <a:srgbClr val="1F3864"/>
                </a:solidFill>
              </a:rPr>
              <a:t>Diabetes Model Results</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398682315"/>
              </p:ext>
            </p:extLst>
          </p:nvPr>
        </p:nvGraphicFramePr>
        <p:xfrm>
          <a:off x="320040" y="2340864"/>
          <a:ext cx="4114800" cy="2368296"/>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96037">
                <a:tc>
                  <a:txBody>
                    <a:bodyPr/>
                    <a:lstStyle/>
                    <a:p>
                      <a:pPr marL="0" indent="0" algn="l">
                        <a:buNone/>
                      </a:pPr>
                      <a:r>
                        <a:rPr lang="en-US" sz="850" b="1" dirty="0">
                          <a:solidFill>
                            <a:srgbClr val="FFFFFF"/>
                          </a:solidFill>
                        </a:rPr>
                        <a:t>Model</a:t>
                      </a:r>
                      <a:endParaRPr lang="en-US" sz="85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1F3864"/>
                    </a:solidFill>
                  </a:tcPr>
                </a:tc>
                <a:tc>
                  <a:txBody>
                    <a:bodyPr/>
                    <a:lstStyle/>
                    <a:p>
                      <a:pPr marL="0" indent="0" algn="ctr">
                        <a:buNone/>
                      </a:pPr>
                      <a:r>
                        <a:rPr lang="en-US" sz="850" b="1" dirty="0">
                          <a:solidFill>
                            <a:srgbClr val="FFFFFF"/>
                          </a:solidFill>
                        </a:rPr>
                        <a:t>Accuracy</a:t>
                      </a:r>
                      <a:endParaRPr lang="en-US" sz="85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1F3864"/>
                    </a:solidFill>
                  </a:tcPr>
                </a:tc>
                <a:tc>
                  <a:txBody>
                    <a:bodyPr/>
                    <a:lstStyle/>
                    <a:p>
                      <a:pPr marL="0" indent="0" algn="ctr">
                        <a:buNone/>
                      </a:pPr>
                      <a:r>
                        <a:rPr lang="en-US" sz="850" b="1" dirty="0">
                          <a:solidFill>
                            <a:srgbClr val="FFFFFF"/>
                          </a:solidFill>
                        </a:rPr>
                        <a:t>Recall</a:t>
                      </a:r>
                      <a:endParaRPr lang="en-US" sz="85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296037">
                <a:tc>
                  <a:txBody>
                    <a:bodyPr/>
                    <a:lstStyle/>
                    <a:p>
                      <a:pPr marL="0" indent="0" algn="l">
                        <a:buNone/>
                      </a:pPr>
                      <a:r>
                        <a:rPr lang="en-US" sz="800" dirty="0">
                          <a:solidFill>
                            <a:srgbClr val="444444"/>
                          </a:solidFill>
                        </a:rPr>
                        <a:t>Logistic Regression</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444444"/>
                          </a:solidFill>
                        </a:rPr>
                        <a:t>71.43%</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444444"/>
                          </a:solidFill>
                        </a:rPr>
                        <a:t>71.43%</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6037">
                <a:tc>
                  <a:txBody>
                    <a:bodyPr/>
                    <a:lstStyle/>
                    <a:p>
                      <a:pPr marL="0" indent="0" algn="l">
                        <a:buNone/>
                      </a:pPr>
                      <a:r>
                        <a:rPr lang="en-US" sz="800" dirty="0">
                          <a:solidFill>
                            <a:srgbClr val="444444"/>
                          </a:solidFill>
                        </a:rPr>
                        <a:t>Random Forest</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444444"/>
                          </a:solidFill>
                        </a:rPr>
                        <a:t>74.68%</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444444"/>
                          </a:solidFill>
                        </a:rPr>
                        <a:t>74.68%</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296037">
                <a:tc>
                  <a:txBody>
                    <a:bodyPr/>
                    <a:lstStyle/>
                    <a:p>
                      <a:pPr marL="0" indent="0" algn="l">
                        <a:buNone/>
                      </a:pPr>
                      <a:r>
                        <a:rPr lang="en-US" sz="800" dirty="0">
                          <a:solidFill>
                            <a:srgbClr val="444444"/>
                          </a:solidFill>
                        </a:rPr>
                        <a:t>SVM</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444444"/>
                          </a:solidFill>
                        </a:rPr>
                        <a:t>72.73%</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444444"/>
                          </a:solidFill>
                        </a:rPr>
                        <a:t>72.73%</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6037">
                <a:tc>
                  <a:txBody>
                    <a:bodyPr/>
                    <a:lstStyle/>
                    <a:p>
                      <a:pPr marL="0" indent="0" algn="l">
                        <a:buNone/>
                      </a:pPr>
                      <a:r>
                        <a:rPr lang="en-US" sz="800" dirty="0">
                          <a:solidFill>
                            <a:srgbClr val="444444"/>
                          </a:solidFill>
                        </a:rPr>
                        <a:t>KNN</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444444"/>
                          </a:solidFill>
                        </a:rPr>
                        <a:t>68.83%</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444444"/>
                          </a:solidFill>
                        </a:rPr>
                        <a:t>68.83%</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296037">
                <a:tc>
                  <a:txBody>
                    <a:bodyPr/>
                    <a:lstStyle/>
                    <a:p>
                      <a:pPr marL="0" indent="0" algn="l">
                        <a:buNone/>
                      </a:pPr>
                      <a:r>
                        <a:rPr lang="en-US" sz="800" b="1" dirty="0">
                          <a:solidFill>
                            <a:srgbClr val="1F3864"/>
                          </a:solidFill>
                        </a:rPr>
                        <a:t>XGBoost (Best)</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8F0FE"/>
                    </a:solidFill>
                  </a:tcPr>
                </a:tc>
                <a:tc>
                  <a:txBody>
                    <a:bodyPr/>
                    <a:lstStyle/>
                    <a:p>
                      <a:pPr marL="0" indent="0" algn="ctr">
                        <a:buNone/>
                      </a:pPr>
                      <a:r>
                        <a:rPr lang="en-US" sz="800" b="1" dirty="0">
                          <a:solidFill>
                            <a:srgbClr val="1F3864"/>
                          </a:solidFill>
                        </a:rPr>
                        <a:t>76.62%</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8F0FE"/>
                    </a:solidFill>
                  </a:tcPr>
                </a:tc>
                <a:tc>
                  <a:txBody>
                    <a:bodyPr/>
                    <a:lstStyle/>
                    <a:p>
                      <a:pPr marL="0" indent="0" algn="ctr">
                        <a:buNone/>
                      </a:pPr>
                      <a:r>
                        <a:rPr lang="en-US" sz="800" b="1" dirty="0">
                          <a:solidFill>
                            <a:srgbClr val="1F3864"/>
                          </a:solidFill>
                        </a:rPr>
                        <a:t>76.62%</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8F0FE"/>
                    </a:solidFill>
                  </a:tcPr>
                </a:tc>
                <a:extLst>
                  <a:ext uri="{0D108BD9-81ED-4DB2-BD59-A6C34878D82A}">
                    <a16:rowId xmlns:a16="http://schemas.microsoft.com/office/drawing/2014/main" val="10005"/>
                  </a:ext>
                </a:extLst>
              </a:tr>
              <a:tr h="296037">
                <a:tc>
                  <a:txBody>
                    <a:bodyPr/>
                    <a:lstStyle/>
                    <a:p>
                      <a:pPr marL="0" indent="0" algn="l">
                        <a:buNone/>
                      </a:pPr>
                      <a:r>
                        <a:rPr lang="en-US" sz="800" dirty="0">
                          <a:solidFill>
                            <a:srgbClr val="444444"/>
                          </a:solidFill>
                        </a:rPr>
                        <a:t>Gradient Boosting</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444444"/>
                          </a:solidFill>
                        </a:rPr>
                        <a:t>74.68%</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444444"/>
                          </a:solidFill>
                        </a:rPr>
                        <a:t>74.68%</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r h="296037">
                <a:tc>
                  <a:txBody>
                    <a:bodyPr/>
                    <a:lstStyle/>
                    <a:p>
                      <a:pPr marL="0" indent="0" algn="l">
                        <a:buNone/>
                      </a:pPr>
                      <a:r>
                        <a:rPr lang="en-US" sz="800" dirty="0">
                          <a:solidFill>
                            <a:srgbClr val="444444"/>
                          </a:solidFill>
                        </a:rPr>
                        <a:t>Voting Ensemble</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444444"/>
                          </a:solidFill>
                        </a:rPr>
                        <a:t>75.97%</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444444"/>
                          </a:solidFill>
                        </a:rPr>
                        <a:t>75.97%</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4" name="Text 11"/>
          <p:cNvSpPr/>
          <p:nvPr/>
        </p:nvSpPr>
        <p:spPr>
          <a:xfrm>
            <a:off x="4709160" y="2029968"/>
            <a:ext cx="4114800" cy="274320"/>
          </a:xfrm>
          <a:prstGeom prst="rect">
            <a:avLst/>
          </a:prstGeom>
          <a:noFill/>
          <a:ln/>
        </p:spPr>
        <p:txBody>
          <a:bodyPr wrap="square" rtlCol="0" anchor="ctr"/>
          <a:lstStyle/>
          <a:p>
            <a:pPr marL="0" indent="0">
              <a:buNone/>
            </a:pPr>
            <a:r>
              <a:rPr lang="en-US" sz="1050" b="1" dirty="0">
                <a:solidFill>
                  <a:srgbClr val="1F3864"/>
                </a:solidFill>
              </a:rPr>
              <a:t>Heart Disease Model Results</a:t>
            </a:r>
            <a:endParaRPr lang="en-US" sz="1050" dirty="0"/>
          </a:p>
        </p:txBody>
      </p:sp>
      <p:graphicFrame>
        <p:nvGraphicFramePr>
          <p:cNvPr id="15" name="Table 1"/>
          <p:cNvGraphicFramePr>
            <a:graphicFrameLocks noGrp="1"/>
          </p:cNvGraphicFramePr>
          <p:nvPr>
            <p:extLst>
              <p:ext uri="{D42A27DB-BD31-4B8C-83A1-F6EECF244321}">
                <p14:modId xmlns:p14="http://schemas.microsoft.com/office/powerpoint/2010/main" val="648361600"/>
              </p:ext>
            </p:extLst>
          </p:nvPr>
        </p:nvGraphicFramePr>
        <p:xfrm>
          <a:off x="4709160" y="2340864"/>
          <a:ext cx="4114800" cy="237744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97180">
                <a:tc>
                  <a:txBody>
                    <a:bodyPr/>
                    <a:lstStyle/>
                    <a:p>
                      <a:pPr marL="0" indent="0" algn="l">
                        <a:buNone/>
                      </a:pPr>
                      <a:r>
                        <a:rPr lang="en-US" sz="850" b="1" dirty="0">
                          <a:solidFill>
                            <a:srgbClr val="FFFFFF"/>
                          </a:solidFill>
                        </a:rPr>
                        <a:t>Model</a:t>
                      </a:r>
                      <a:endParaRPr lang="en-US" sz="85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1F3864"/>
                    </a:solidFill>
                  </a:tcPr>
                </a:tc>
                <a:tc>
                  <a:txBody>
                    <a:bodyPr/>
                    <a:lstStyle/>
                    <a:p>
                      <a:pPr marL="0" indent="0" algn="ctr">
                        <a:buNone/>
                      </a:pPr>
                      <a:r>
                        <a:rPr lang="en-US" sz="850" b="1" dirty="0">
                          <a:solidFill>
                            <a:srgbClr val="FFFFFF"/>
                          </a:solidFill>
                        </a:rPr>
                        <a:t>Accuracy</a:t>
                      </a:r>
                      <a:endParaRPr lang="en-US" sz="85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1F3864"/>
                    </a:solidFill>
                  </a:tcPr>
                </a:tc>
                <a:tc>
                  <a:txBody>
                    <a:bodyPr/>
                    <a:lstStyle/>
                    <a:p>
                      <a:pPr marL="0" indent="0" algn="ctr">
                        <a:buNone/>
                      </a:pPr>
                      <a:r>
                        <a:rPr lang="en-US" sz="850" b="1" dirty="0">
                          <a:solidFill>
                            <a:srgbClr val="FFFFFF"/>
                          </a:solidFill>
                        </a:rPr>
                        <a:t>CV Score</a:t>
                      </a:r>
                      <a:endParaRPr lang="en-US" sz="85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297180">
                <a:tc>
                  <a:txBody>
                    <a:bodyPr/>
                    <a:lstStyle/>
                    <a:p>
                      <a:pPr marL="0" indent="0" algn="l">
                        <a:buNone/>
                      </a:pPr>
                      <a:r>
                        <a:rPr lang="en-US" sz="800" dirty="0">
                          <a:solidFill>
                            <a:srgbClr val="444444"/>
                          </a:solidFill>
                        </a:rPr>
                        <a:t>Logistic Regression</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444444"/>
                          </a:solidFill>
                        </a:rPr>
                        <a:t>66.98%</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444444"/>
                          </a:solidFill>
                        </a:rPr>
                        <a:t>68.56%</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7180">
                <a:tc>
                  <a:txBody>
                    <a:bodyPr/>
                    <a:lstStyle/>
                    <a:p>
                      <a:pPr marL="0" indent="0" algn="l">
                        <a:buNone/>
                      </a:pPr>
                      <a:r>
                        <a:rPr lang="en-US" sz="800" dirty="0">
                          <a:solidFill>
                            <a:srgbClr val="444444"/>
                          </a:solidFill>
                        </a:rPr>
                        <a:t>Random Forest</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444444"/>
                          </a:solidFill>
                        </a:rPr>
                        <a:t>73.58%</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444444"/>
                          </a:solidFill>
                        </a:rPr>
                        <a:t>82.05%</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297180">
                <a:tc>
                  <a:txBody>
                    <a:bodyPr/>
                    <a:lstStyle/>
                    <a:p>
                      <a:pPr marL="0" indent="0" algn="l">
                        <a:buNone/>
                      </a:pPr>
                      <a:r>
                        <a:rPr lang="en-US" sz="800" dirty="0">
                          <a:solidFill>
                            <a:srgbClr val="444444"/>
                          </a:solidFill>
                        </a:rPr>
                        <a:t>SVM</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444444"/>
                          </a:solidFill>
                        </a:rPr>
                        <a:t>68.75%</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444444"/>
                          </a:solidFill>
                        </a:rPr>
                        <a:t>75.01%</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7180">
                <a:tc>
                  <a:txBody>
                    <a:bodyPr/>
                    <a:lstStyle/>
                    <a:p>
                      <a:pPr marL="0" indent="0" algn="l">
                        <a:buNone/>
                      </a:pPr>
                      <a:r>
                        <a:rPr lang="en-US" sz="800" dirty="0">
                          <a:solidFill>
                            <a:srgbClr val="444444"/>
                          </a:solidFill>
                        </a:rPr>
                        <a:t>KNN</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444444"/>
                          </a:solidFill>
                        </a:rPr>
                        <a:t>61.32%</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444444"/>
                          </a:solidFill>
                        </a:rPr>
                        <a:t>80.74%</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297180">
                <a:tc>
                  <a:txBody>
                    <a:bodyPr/>
                    <a:lstStyle/>
                    <a:p>
                      <a:pPr marL="0" indent="0" algn="l">
                        <a:buNone/>
                      </a:pPr>
                      <a:r>
                        <a:rPr lang="en-US" sz="800" b="1" dirty="0">
                          <a:solidFill>
                            <a:srgbClr val="1F3864"/>
                          </a:solidFill>
                        </a:rPr>
                        <a:t>XGBoost (Best)</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8F0FE"/>
                    </a:solidFill>
                  </a:tcPr>
                </a:tc>
                <a:tc>
                  <a:txBody>
                    <a:bodyPr/>
                    <a:lstStyle/>
                    <a:p>
                      <a:pPr marL="0" indent="0" algn="ctr">
                        <a:buNone/>
                      </a:pPr>
                      <a:r>
                        <a:rPr lang="en-US" sz="800" b="1" dirty="0">
                          <a:solidFill>
                            <a:srgbClr val="1F3864"/>
                          </a:solidFill>
                        </a:rPr>
                        <a:t>81.37%</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8F0FE"/>
                    </a:solidFill>
                  </a:tcPr>
                </a:tc>
                <a:tc>
                  <a:txBody>
                    <a:bodyPr/>
                    <a:lstStyle/>
                    <a:p>
                      <a:pPr marL="0" indent="0" algn="ctr">
                        <a:buNone/>
                      </a:pPr>
                      <a:r>
                        <a:rPr lang="en-US" sz="800" b="1" dirty="0">
                          <a:solidFill>
                            <a:srgbClr val="1F3864"/>
                          </a:solidFill>
                        </a:rPr>
                        <a:t>87.26%</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8F0FE"/>
                    </a:solidFill>
                  </a:tcPr>
                </a:tc>
                <a:extLst>
                  <a:ext uri="{0D108BD9-81ED-4DB2-BD59-A6C34878D82A}">
                    <a16:rowId xmlns:a16="http://schemas.microsoft.com/office/drawing/2014/main" val="10005"/>
                  </a:ext>
                </a:extLst>
              </a:tr>
              <a:tr h="297180">
                <a:tc>
                  <a:txBody>
                    <a:bodyPr/>
                    <a:lstStyle/>
                    <a:p>
                      <a:pPr marL="0" indent="0" algn="l">
                        <a:buNone/>
                      </a:pPr>
                      <a:r>
                        <a:rPr lang="en-US" sz="800" dirty="0">
                          <a:solidFill>
                            <a:srgbClr val="444444"/>
                          </a:solidFill>
                        </a:rPr>
                        <a:t>Gradient Boosting</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444444"/>
                          </a:solidFill>
                        </a:rPr>
                        <a:t>80.31%</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444444"/>
                          </a:solidFill>
                        </a:rPr>
                        <a:t>86.60%</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r h="297180">
                <a:tc>
                  <a:txBody>
                    <a:bodyPr/>
                    <a:lstStyle/>
                    <a:p>
                      <a:pPr marL="0" indent="0" algn="l">
                        <a:buNone/>
                      </a:pPr>
                      <a:r>
                        <a:rPr lang="en-US" sz="800" dirty="0">
                          <a:solidFill>
                            <a:srgbClr val="444444"/>
                          </a:solidFill>
                        </a:rPr>
                        <a:t>Voting Ensemble</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444444"/>
                          </a:solidFill>
                        </a:rPr>
                        <a:t>75.24%</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444444"/>
                          </a:solidFill>
                        </a:rPr>
                        <a:t>84.50%</a:t>
                      </a:r>
                      <a:endParaRPr lang="en-US" sz="800" dirty="0"/>
                    </a:p>
                  </a:txBody>
                  <a:tcP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6" name="Shape 12"/>
          <p:cNvSpPr/>
          <p:nvPr/>
        </p:nvSpPr>
        <p:spPr>
          <a:xfrm>
            <a:off x="287867" y="4745736"/>
            <a:ext cx="8536093" cy="246888"/>
          </a:xfrm>
          <a:prstGeom prst="rect">
            <a:avLst/>
          </a:prstGeom>
          <a:solidFill>
            <a:srgbClr val="EEF2FF"/>
          </a:solidFill>
          <a:ln w="6350">
            <a:solidFill>
              <a:srgbClr val="2E5C9E"/>
            </a:solidFill>
            <a:prstDash val="solid"/>
          </a:ln>
        </p:spPr>
      </p:sp>
      <p:sp>
        <p:nvSpPr>
          <p:cNvPr id="17" name="Text 13"/>
          <p:cNvSpPr/>
          <p:nvPr/>
        </p:nvSpPr>
        <p:spPr>
          <a:xfrm>
            <a:off x="411480" y="4718304"/>
            <a:ext cx="8321040" cy="201168"/>
          </a:xfrm>
          <a:prstGeom prst="rect">
            <a:avLst/>
          </a:prstGeom>
          <a:noFill/>
          <a:ln/>
        </p:spPr>
        <p:txBody>
          <a:bodyPr wrap="square" rtlCol="0" anchor="ctr"/>
          <a:lstStyle/>
          <a:p>
            <a:pPr marL="0" indent="0">
              <a:buNone/>
            </a:pPr>
            <a:r>
              <a:rPr lang="en-US" sz="850" b="1" dirty="0">
                <a:solidFill>
                  <a:srgbClr val="1F3864"/>
                </a:solidFill>
              </a:rPr>
              <a:t>Key Finding: Engineered feature age_risk scored importance 0.218 — the highest of all 19 features — confirming the value of feature engineering.</a:t>
            </a:r>
            <a:endParaRPr lang="en-US" sz="850" dirty="0"/>
          </a:p>
        </p:txBody>
      </p:sp>
      <p:sp>
        <p:nvSpPr>
          <p:cNvPr id="19" name="Text 15"/>
          <p:cNvSpPr/>
          <p:nvPr/>
        </p:nvSpPr>
        <p:spPr>
          <a:xfrm>
            <a:off x="0" y="4983480"/>
            <a:ext cx="9144000" cy="160020"/>
          </a:xfrm>
          <a:prstGeom prst="rect">
            <a:avLst/>
          </a:prstGeom>
          <a:noFill/>
          <a:ln/>
        </p:spPr>
        <p:txBody>
          <a:bodyPr wrap="square" rtlCol="0" anchor="ctr"/>
          <a:lstStyle/>
          <a:p>
            <a:pPr marL="0" indent="0" algn="ctr">
              <a:buNone/>
            </a:pPr>
            <a:r>
              <a:rPr lang="en-US" sz="800" dirty="0">
                <a:solidFill>
                  <a:srgbClr val="FFFFFF"/>
                </a:solidFill>
              </a:rPr>
              <a:t>Pritesh Raj  |  230103035  |  B.Tech CSE (AI &amp; DS)  |  IIIT Senapati, Manipur</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F3864"/>
          </a:solidFill>
          <a:ln/>
        </p:spPr>
      </p:sp>
      <p:sp>
        <p:nvSpPr>
          <p:cNvPr id="3" name="Text 1"/>
          <p:cNvSpPr/>
          <p:nvPr/>
        </p:nvSpPr>
        <p:spPr>
          <a:xfrm>
            <a:off x="320040" y="91440"/>
            <a:ext cx="7772400" cy="457200"/>
          </a:xfrm>
          <a:prstGeom prst="rect">
            <a:avLst/>
          </a:prstGeom>
          <a:noFill/>
          <a:ln/>
        </p:spPr>
        <p:txBody>
          <a:bodyPr wrap="square" rtlCol="0" anchor="ctr"/>
          <a:lstStyle/>
          <a:p>
            <a:pPr marL="0" indent="0">
              <a:buNone/>
            </a:pPr>
            <a:r>
              <a:rPr lang="en-US" sz="2000" b="1" dirty="0">
                <a:solidFill>
                  <a:srgbClr val="FFFFFF"/>
                </a:solidFill>
              </a:rPr>
              <a:t>Conclusion and Future Work</a:t>
            </a:r>
            <a:endParaRPr lang="en-US" sz="2000" dirty="0"/>
          </a:p>
        </p:txBody>
      </p:sp>
      <p:sp>
        <p:nvSpPr>
          <p:cNvPr id="4" name="Text 2"/>
          <p:cNvSpPr/>
          <p:nvPr/>
        </p:nvSpPr>
        <p:spPr>
          <a:xfrm>
            <a:off x="7772400" y="182880"/>
            <a:ext cx="1234440" cy="274320"/>
          </a:xfrm>
          <a:prstGeom prst="rect">
            <a:avLst/>
          </a:prstGeom>
          <a:noFill/>
          <a:ln/>
        </p:spPr>
        <p:txBody>
          <a:bodyPr wrap="square" rtlCol="0" anchor="ctr"/>
          <a:lstStyle/>
          <a:p>
            <a:pPr marL="0" indent="0" algn="r">
              <a:buNone/>
            </a:pPr>
            <a:endParaRPr lang="en-US" sz="800" dirty="0"/>
          </a:p>
        </p:txBody>
      </p:sp>
      <p:sp>
        <p:nvSpPr>
          <p:cNvPr id="5" name="Text 3"/>
          <p:cNvSpPr/>
          <p:nvPr/>
        </p:nvSpPr>
        <p:spPr>
          <a:xfrm>
            <a:off x="320040" y="777240"/>
            <a:ext cx="4114800" cy="292608"/>
          </a:xfrm>
          <a:prstGeom prst="rect">
            <a:avLst/>
          </a:prstGeom>
          <a:noFill/>
          <a:ln/>
        </p:spPr>
        <p:txBody>
          <a:bodyPr wrap="square" rtlCol="0" anchor="ctr"/>
          <a:lstStyle/>
          <a:p>
            <a:pPr marL="0" indent="0">
              <a:buNone/>
            </a:pPr>
            <a:r>
              <a:rPr lang="en-US" sz="1100" b="1" dirty="0">
                <a:solidFill>
                  <a:srgbClr val="1F3864"/>
                </a:solidFill>
              </a:rPr>
              <a:t>Summary of Work Done</a:t>
            </a:r>
            <a:endParaRPr lang="en-US" sz="1100" dirty="0"/>
          </a:p>
        </p:txBody>
      </p:sp>
      <p:sp>
        <p:nvSpPr>
          <p:cNvPr id="6" name="Text 4"/>
          <p:cNvSpPr/>
          <p:nvPr/>
        </p:nvSpPr>
        <p:spPr>
          <a:xfrm>
            <a:off x="411480" y="1115568"/>
            <a:ext cx="3931920" cy="402336"/>
          </a:xfrm>
          <a:prstGeom prst="rect">
            <a:avLst/>
          </a:prstGeom>
          <a:noFill/>
          <a:ln/>
        </p:spPr>
        <p:txBody>
          <a:bodyPr wrap="square" rtlCol="0" anchor="ctr"/>
          <a:lstStyle/>
          <a:p>
            <a:pPr marL="0" indent="0">
              <a:lnSpc>
                <a:spcPct val="130000"/>
              </a:lnSpc>
              <a:buNone/>
            </a:pPr>
            <a:r>
              <a:rPr lang="en-US" sz="900" dirty="0">
                <a:solidFill>
                  <a:srgbClr val="444444"/>
                </a:solidFill>
              </a:rPr>
              <a:t>1.  Built a unified system predicting Diabetes (76.62%) and Heart Disease (81.37%) in one application</a:t>
            </a:r>
            <a:endParaRPr lang="en-US" sz="900" dirty="0"/>
          </a:p>
        </p:txBody>
      </p:sp>
      <p:sp>
        <p:nvSpPr>
          <p:cNvPr id="7" name="Text 5"/>
          <p:cNvSpPr/>
          <p:nvPr/>
        </p:nvSpPr>
        <p:spPr>
          <a:xfrm>
            <a:off x="411480" y="1581912"/>
            <a:ext cx="3931920" cy="402336"/>
          </a:xfrm>
          <a:prstGeom prst="rect">
            <a:avLst/>
          </a:prstGeom>
          <a:noFill/>
          <a:ln/>
        </p:spPr>
        <p:txBody>
          <a:bodyPr wrap="square" rtlCol="0" anchor="ctr"/>
          <a:lstStyle/>
          <a:p>
            <a:pPr marL="0" indent="0">
              <a:lnSpc>
                <a:spcPct val="130000"/>
              </a:lnSpc>
              <a:buNone/>
            </a:pPr>
            <a:r>
              <a:rPr lang="en-US" sz="900" dirty="0">
                <a:solidFill>
                  <a:srgbClr val="444444"/>
                </a:solidFill>
              </a:rPr>
              <a:t>2.  Compared 7 ML models — XGBoost was best for both diseases</a:t>
            </a:r>
            <a:endParaRPr lang="en-US" sz="900" dirty="0"/>
          </a:p>
        </p:txBody>
      </p:sp>
      <p:sp>
        <p:nvSpPr>
          <p:cNvPr id="8" name="Text 6"/>
          <p:cNvSpPr/>
          <p:nvPr/>
        </p:nvSpPr>
        <p:spPr>
          <a:xfrm>
            <a:off x="411480" y="2048256"/>
            <a:ext cx="3931920" cy="402336"/>
          </a:xfrm>
          <a:prstGeom prst="rect">
            <a:avLst/>
          </a:prstGeom>
          <a:noFill/>
          <a:ln/>
        </p:spPr>
        <p:txBody>
          <a:bodyPr wrap="square" rtlCol="0" anchor="ctr"/>
          <a:lstStyle/>
          <a:p>
            <a:pPr marL="0" indent="0">
              <a:lnSpc>
                <a:spcPct val="130000"/>
              </a:lnSpc>
              <a:buNone/>
            </a:pPr>
            <a:r>
              <a:rPr lang="en-US" sz="900" dirty="0">
                <a:solidFill>
                  <a:srgbClr val="444444"/>
                </a:solidFill>
              </a:rPr>
              <a:t>3.  Applied SMOTE to correct class imbalance in both datasets</a:t>
            </a:r>
            <a:endParaRPr lang="en-US" sz="900" dirty="0"/>
          </a:p>
        </p:txBody>
      </p:sp>
      <p:sp>
        <p:nvSpPr>
          <p:cNvPr id="9" name="Text 7"/>
          <p:cNvSpPr/>
          <p:nvPr/>
        </p:nvSpPr>
        <p:spPr>
          <a:xfrm>
            <a:off x="411480" y="2514600"/>
            <a:ext cx="3931920" cy="402336"/>
          </a:xfrm>
          <a:prstGeom prst="rect">
            <a:avLst/>
          </a:prstGeom>
          <a:noFill/>
          <a:ln/>
        </p:spPr>
        <p:txBody>
          <a:bodyPr wrap="square" rtlCol="0" anchor="ctr"/>
          <a:lstStyle/>
          <a:p>
            <a:pPr marL="0" indent="0">
              <a:lnSpc>
                <a:spcPct val="130000"/>
              </a:lnSpc>
              <a:buNone/>
            </a:pPr>
            <a:r>
              <a:rPr lang="en-US" sz="900" dirty="0">
                <a:solidFill>
                  <a:srgbClr val="444444"/>
                </a:solidFill>
              </a:rPr>
              <a:t>4.  Engineered 4 new features — age_risk validated as the most important predictor</a:t>
            </a:r>
            <a:endParaRPr lang="en-US" sz="900" dirty="0"/>
          </a:p>
        </p:txBody>
      </p:sp>
      <p:sp>
        <p:nvSpPr>
          <p:cNvPr id="10" name="Text 8"/>
          <p:cNvSpPr/>
          <p:nvPr/>
        </p:nvSpPr>
        <p:spPr>
          <a:xfrm>
            <a:off x="411480" y="2980944"/>
            <a:ext cx="3931920" cy="402336"/>
          </a:xfrm>
          <a:prstGeom prst="rect">
            <a:avLst/>
          </a:prstGeom>
          <a:noFill/>
          <a:ln/>
        </p:spPr>
        <p:txBody>
          <a:bodyPr wrap="square" rtlCol="0" anchor="ctr"/>
          <a:lstStyle/>
          <a:p>
            <a:pPr marL="0" indent="0">
              <a:lnSpc>
                <a:spcPct val="130000"/>
              </a:lnSpc>
              <a:buNone/>
            </a:pPr>
            <a:r>
              <a:rPr lang="en-US" sz="900" dirty="0">
                <a:solidFill>
                  <a:srgbClr val="444444"/>
                </a:solidFill>
              </a:rPr>
              <a:t>5.  Deployed a Streamlit web app with risk scoring, PDF report, and history tracking</a:t>
            </a:r>
            <a:endParaRPr lang="en-US" sz="900" dirty="0"/>
          </a:p>
        </p:txBody>
      </p:sp>
      <p:sp>
        <p:nvSpPr>
          <p:cNvPr id="11" name="Text 9"/>
          <p:cNvSpPr/>
          <p:nvPr/>
        </p:nvSpPr>
        <p:spPr>
          <a:xfrm>
            <a:off x="411480" y="3447288"/>
            <a:ext cx="3931920" cy="402336"/>
          </a:xfrm>
          <a:prstGeom prst="rect">
            <a:avLst/>
          </a:prstGeom>
          <a:noFill/>
          <a:ln/>
        </p:spPr>
        <p:txBody>
          <a:bodyPr wrap="square" rtlCol="0" anchor="ctr"/>
          <a:lstStyle/>
          <a:p>
            <a:pPr marL="0" indent="0">
              <a:lnSpc>
                <a:spcPct val="130000"/>
              </a:lnSpc>
              <a:buNone/>
            </a:pPr>
            <a:r>
              <a:rPr lang="en-US" sz="900" dirty="0">
                <a:solidFill>
                  <a:srgbClr val="444444"/>
                </a:solidFill>
              </a:rPr>
              <a:t>6.  Documented the project as a full IEEE-format report with 7 chapters</a:t>
            </a:r>
            <a:endParaRPr lang="en-US" sz="900" dirty="0"/>
          </a:p>
        </p:txBody>
      </p:sp>
      <p:sp>
        <p:nvSpPr>
          <p:cNvPr id="12" name="Shape 10"/>
          <p:cNvSpPr/>
          <p:nvPr/>
        </p:nvSpPr>
        <p:spPr>
          <a:xfrm>
            <a:off x="4663440" y="749808"/>
            <a:ext cx="9144" cy="4069080"/>
          </a:xfrm>
          <a:prstGeom prst="rect">
            <a:avLst/>
          </a:prstGeom>
          <a:solidFill>
            <a:srgbClr val="CCCCCC"/>
          </a:solidFill>
          <a:ln/>
        </p:spPr>
      </p:sp>
      <p:sp>
        <p:nvSpPr>
          <p:cNvPr id="13" name="Text 11"/>
          <p:cNvSpPr/>
          <p:nvPr/>
        </p:nvSpPr>
        <p:spPr>
          <a:xfrm>
            <a:off x="4846320" y="777240"/>
            <a:ext cx="4023360" cy="292608"/>
          </a:xfrm>
          <a:prstGeom prst="rect">
            <a:avLst/>
          </a:prstGeom>
          <a:noFill/>
          <a:ln/>
        </p:spPr>
        <p:txBody>
          <a:bodyPr wrap="square" rtlCol="0" anchor="ctr"/>
          <a:lstStyle/>
          <a:p>
            <a:pPr marL="0" indent="0">
              <a:buNone/>
            </a:pPr>
            <a:r>
              <a:rPr lang="en-US" sz="1100" b="1" dirty="0">
                <a:solidFill>
                  <a:srgbClr val="1F3864"/>
                </a:solidFill>
              </a:rPr>
              <a:t>Future Scope</a:t>
            </a:r>
            <a:endParaRPr lang="en-US" sz="1100" dirty="0"/>
          </a:p>
        </p:txBody>
      </p:sp>
      <p:sp>
        <p:nvSpPr>
          <p:cNvPr id="14" name="Text 12"/>
          <p:cNvSpPr/>
          <p:nvPr/>
        </p:nvSpPr>
        <p:spPr>
          <a:xfrm>
            <a:off x="4892040" y="1115568"/>
            <a:ext cx="3931920" cy="402336"/>
          </a:xfrm>
          <a:prstGeom prst="rect">
            <a:avLst/>
          </a:prstGeom>
          <a:noFill/>
          <a:ln/>
        </p:spPr>
        <p:txBody>
          <a:bodyPr wrap="square" rtlCol="0" anchor="ctr"/>
          <a:lstStyle/>
          <a:p>
            <a:pPr marL="0" indent="0">
              <a:lnSpc>
                <a:spcPct val="130000"/>
              </a:lnSpc>
              <a:buNone/>
            </a:pPr>
            <a:r>
              <a:rPr lang="en-US" sz="900" dirty="0">
                <a:solidFill>
                  <a:srgbClr val="444444"/>
                </a:solidFill>
              </a:rPr>
              <a:t>1.  Extend to more diseases — kidney disease, stroke, and cancer</a:t>
            </a:r>
            <a:endParaRPr lang="en-US" sz="900" dirty="0"/>
          </a:p>
        </p:txBody>
      </p:sp>
      <p:sp>
        <p:nvSpPr>
          <p:cNvPr id="15" name="Text 13"/>
          <p:cNvSpPr/>
          <p:nvPr/>
        </p:nvSpPr>
        <p:spPr>
          <a:xfrm>
            <a:off x="4892040" y="1581912"/>
            <a:ext cx="3931920" cy="402336"/>
          </a:xfrm>
          <a:prstGeom prst="rect">
            <a:avLst/>
          </a:prstGeom>
          <a:noFill/>
          <a:ln/>
        </p:spPr>
        <p:txBody>
          <a:bodyPr wrap="square" rtlCol="0" anchor="ctr"/>
          <a:lstStyle/>
          <a:p>
            <a:pPr marL="0" indent="0">
              <a:lnSpc>
                <a:spcPct val="130000"/>
              </a:lnSpc>
              <a:buNone/>
            </a:pPr>
            <a:r>
              <a:rPr lang="en-US" sz="900" dirty="0">
                <a:solidFill>
                  <a:srgbClr val="444444"/>
                </a:solidFill>
              </a:rPr>
              <a:t>2.  Integrate SHAP values for explainable AI predictions</a:t>
            </a:r>
            <a:endParaRPr lang="en-US" sz="900" dirty="0"/>
          </a:p>
        </p:txBody>
      </p:sp>
      <p:sp>
        <p:nvSpPr>
          <p:cNvPr id="16" name="Text 14"/>
          <p:cNvSpPr/>
          <p:nvPr/>
        </p:nvSpPr>
        <p:spPr>
          <a:xfrm>
            <a:off x="4892040" y="2048256"/>
            <a:ext cx="3931920" cy="402336"/>
          </a:xfrm>
          <a:prstGeom prst="rect">
            <a:avLst/>
          </a:prstGeom>
          <a:noFill/>
          <a:ln/>
        </p:spPr>
        <p:txBody>
          <a:bodyPr wrap="square" rtlCol="0" anchor="ctr"/>
          <a:lstStyle/>
          <a:p>
            <a:pPr marL="0" indent="0">
              <a:lnSpc>
                <a:spcPct val="130000"/>
              </a:lnSpc>
              <a:buNone/>
            </a:pPr>
            <a:r>
              <a:rPr lang="en-US" sz="900" dirty="0">
                <a:solidFill>
                  <a:srgbClr val="444444"/>
                </a:solidFill>
              </a:rPr>
              <a:t>3.  Improve accuracy using deep learning architectures (LSTM, CNN)</a:t>
            </a:r>
            <a:endParaRPr lang="en-US" sz="900" dirty="0"/>
          </a:p>
        </p:txBody>
      </p:sp>
      <p:sp>
        <p:nvSpPr>
          <p:cNvPr id="17" name="Text 15"/>
          <p:cNvSpPr/>
          <p:nvPr/>
        </p:nvSpPr>
        <p:spPr>
          <a:xfrm>
            <a:off x="4892040" y="2514600"/>
            <a:ext cx="3931920" cy="402336"/>
          </a:xfrm>
          <a:prstGeom prst="rect">
            <a:avLst/>
          </a:prstGeom>
          <a:noFill/>
          <a:ln/>
        </p:spPr>
        <p:txBody>
          <a:bodyPr wrap="square" rtlCol="0" anchor="ctr"/>
          <a:lstStyle/>
          <a:p>
            <a:pPr marL="0" indent="0">
              <a:lnSpc>
                <a:spcPct val="130000"/>
              </a:lnSpc>
              <a:buNone/>
            </a:pPr>
            <a:r>
              <a:rPr lang="en-US" sz="900" dirty="0">
                <a:solidFill>
                  <a:srgbClr val="444444"/>
                </a:solidFill>
              </a:rPr>
              <a:t>4.  Deploy on cloud (Streamlit Cloud / AWS) for public access</a:t>
            </a:r>
            <a:endParaRPr lang="en-US" sz="900" dirty="0"/>
          </a:p>
        </p:txBody>
      </p:sp>
      <p:sp>
        <p:nvSpPr>
          <p:cNvPr id="18" name="Text 16"/>
          <p:cNvSpPr/>
          <p:nvPr/>
        </p:nvSpPr>
        <p:spPr>
          <a:xfrm>
            <a:off x="4892040" y="2980944"/>
            <a:ext cx="3931920" cy="402336"/>
          </a:xfrm>
          <a:prstGeom prst="rect">
            <a:avLst/>
          </a:prstGeom>
          <a:noFill/>
          <a:ln/>
        </p:spPr>
        <p:txBody>
          <a:bodyPr wrap="square" rtlCol="0" anchor="ctr"/>
          <a:lstStyle/>
          <a:p>
            <a:pPr marL="0" indent="0">
              <a:lnSpc>
                <a:spcPct val="130000"/>
              </a:lnSpc>
              <a:buNone/>
            </a:pPr>
            <a:r>
              <a:rPr lang="en-US" sz="900" dirty="0">
                <a:solidFill>
                  <a:srgbClr val="444444"/>
                </a:solidFill>
              </a:rPr>
              <a:t>5.  Develop a mobile application using React Native</a:t>
            </a:r>
            <a:endParaRPr lang="en-US" sz="900" dirty="0"/>
          </a:p>
        </p:txBody>
      </p:sp>
      <p:sp>
        <p:nvSpPr>
          <p:cNvPr id="19" name="Text 17"/>
          <p:cNvSpPr/>
          <p:nvPr/>
        </p:nvSpPr>
        <p:spPr>
          <a:xfrm>
            <a:off x="4892040" y="3447288"/>
            <a:ext cx="3931920" cy="402336"/>
          </a:xfrm>
          <a:prstGeom prst="rect">
            <a:avLst/>
          </a:prstGeom>
          <a:noFill/>
          <a:ln/>
        </p:spPr>
        <p:txBody>
          <a:bodyPr wrap="square" rtlCol="0" anchor="ctr"/>
          <a:lstStyle/>
          <a:p>
            <a:pPr marL="0" indent="0">
              <a:lnSpc>
                <a:spcPct val="130000"/>
              </a:lnSpc>
              <a:buNone/>
            </a:pPr>
            <a:r>
              <a:rPr lang="en-US" sz="900" dirty="0">
                <a:solidFill>
                  <a:srgbClr val="444444"/>
                </a:solidFill>
              </a:rPr>
              <a:t>6.  Integrate with Electronic Health Record (EHR) systems</a:t>
            </a:r>
            <a:endParaRPr lang="en-US" sz="900" dirty="0"/>
          </a:p>
        </p:txBody>
      </p:sp>
      <p:sp>
        <p:nvSpPr>
          <p:cNvPr id="20" name="Shape 18"/>
          <p:cNvSpPr/>
          <p:nvPr/>
        </p:nvSpPr>
        <p:spPr>
          <a:xfrm>
            <a:off x="320040" y="4681728"/>
            <a:ext cx="8503920" cy="256032"/>
          </a:xfrm>
          <a:prstGeom prst="rect">
            <a:avLst/>
          </a:prstGeom>
          <a:solidFill>
            <a:srgbClr val="F4F4F4"/>
          </a:solidFill>
          <a:ln w="6350">
            <a:solidFill>
              <a:srgbClr val="CCCCCC"/>
            </a:solidFill>
            <a:prstDash val="solid"/>
          </a:ln>
        </p:spPr>
      </p:sp>
      <p:sp>
        <p:nvSpPr>
          <p:cNvPr id="21" name="Text 19"/>
          <p:cNvSpPr/>
          <p:nvPr/>
        </p:nvSpPr>
        <p:spPr>
          <a:xfrm>
            <a:off x="411480" y="4690872"/>
            <a:ext cx="8321040" cy="237744"/>
          </a:xfrm>
          <a:prstGeom prst="rect">
            <a:avLst/>
          </a:prstGeom>
          <a:noFill/>
          <a:ln/>
        </p:spPr>
        <p:txBody>
          <a:bodyPr wrap="square" rtlCol="0" anchor="ctr"/>
          <a:lstStyle/>
          <a:p>
            <a:pPr marL="0" indent="0" algn="ctr">
              <a:buNone/>
            </a:pPr>
            <a:r>
              <a:rPr lang="en-US" sz="850" i="1" dirty="0">
                <a:solidFill>
                  <a:srgbClr val="1F3864"/>
                </a:solidFill>
              </a:rPr>
              <a:t>This project demonstrates that ensemble ML can be deployed as an accessible multi-disease clinical decision support tool, bridging academic research and practical healthcare.</a:t>
            </a:r>
            <a:endParaRPr lang="en-US" sz="850" dirty="0"/>
          </a:p>
        </p:txBody>
      </p:sp>
      <p:sp>
        <p:nvSpPr>
          <p:cNvPr id="23" name="Text 21"/>
          <p:cNvSpPr/>
          <p:nvPr/>
        </p:nvSpPr>
        <p:spPr>
          <a:xfrm>
            <a:off x="0" y="4983480"/>
            <a:ext cx="9144000" cy="160020"/>
          </a:xfrm>
          <a:prstGeom prst="rect">
            <a:avLst/>
          </a:prstGeom>
          <a:noFill/>
          <a:ln/>
        </p:spPr>
        <p:txBody>
          <a:bodyPr wrap="square" rtlCol="0" anchor="ctr"/>
          <a:lstStyle/>
          <a:p>
            <a:pPr marL="0" indent="0" algn="ctr">
              <a:buNone/>
            </a:pPr>
            <a:r>
              <a:rPr lang="en-US" sz="800" dirty="0">
                <a:solidFill>
                  <a:srgbClr val="FFFFFF"/>
                </a:solidFill>
              </a:rPr>
              <a:t>Pritesh Raj  |  230103035  |  B.Tech CSE (AI &amp; DS)  |  IIIT Senapati, Manipur</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F3864"/>
          </a:solidFill>
          <a:ln/>
        </p:spPr>
      </p:sp>
      <p:sp>
        <p:nvSpPr>
          <p:cNvPr id="4" name="Text 2"/>
          <p:cNvSpPr/>
          <p:nvPr/>
        </p:nvSpPr>
        <p:spPr>
          <a:xfrm>
            <a:off x="365760" y="1005840"/>
            <a:ext cx="8229600" cy="1005840"/>
          </a:xfrm>
          <a:prstGeom prst="rect">
            <a:avLst/>
          </a:prstGeom>
          <a:noFill/>
          <a:ln/>
        </p:spPr>
        <p:txBody>
          <a:bodyPr wrap="square" rtlCol="0" anchor="ctr"/>
          <a:lstStyle/>
          <a:p>
            <a:pPr marL="0" indent="0">
              <a:buNone/>
            </a:pPr>
            <a:r>
              <a:rPr lang="en-US" sz="5200" b="1" dirty="0">
                <a:solidFill>
                  <a:srgbClr val="1F3864"/>
                </a:solidFill>
              </a:rPr>
              <a:t>Thank You</a:t>
            </a:r>
            <a:endParaRPr lang="en-US" sz="5200" dirty="0"/>
          </a:p>
        </p:txBody>
      </p:sp>
      <p:sp>
        <p:nvSpPr>
          <p:cNvPr id="5" name="Shape 3"/>
          <p:cNvSpPr/>
          <p:nvPr/>
        </p:nvSpPr>
        <p:spPr>
          <a:xfrm>
            <a:off x="365760" y="2121408"/>
            <a:ext cx="3200400" cy="36576"/>
          </a:xfrm>
          <a:prstGeom prst="rect">
            <a:avLst/>
          </a:prstGeom>
          <a:solidFill>
            <a:srgbClr val="C8922A"/>
          </a:solidFill>
          <a:ln/>
        </p:spPr>
      </p:sp>
      <p:sp>
        <p:nvSpPr>
          <p:cNvPr id="6" name="Text 4"/>
          <p:cNvSpPr/>
          <p:nvPr/>
        </p:nvSpPr>
        <p:spPr>
          <a:xfrm>
            <a:off x="365760" y="2286000"/>
            <a:ext cx="8229600" cy="365760"/>
          </a:xfrm>
          <a:prstGeom prst="rect">
            <a:avLst/>
          </a:prstGeom>
          <a:noFill/>
          <a:ln/>
        </p:spPr>
        <p:txBody>
          <a:bodyPr wrap="square" rtlCol="0" anchor="ctr"/>
          <a:lstStyle/>
          <a:p>
            <a:pPr marL="0" indent="0">
              <a:buNone/>
            </a:pPr>
            <a:r>
              <a:rPr lang="en-US" sz="1400" dirty="0">
                <a:solidFill>
                  <a:srgbClr val="2E5C9E"/>
                </a:solidFill>
              </a:rPr>
              <a:t>Open for Questions and Discussion</a:t>
            </a:r>
            <a:endParaRPr lang="en-US" sz="1400" dirty="0"/>
          </a:p>
        </p:txBody>
      </p:sp>
      <p:sp>
        <p:nvSpPr>
          <p:cNvPr id="7" name="Shape 5"/>
          <p:cNvSpPr/>
          <p:nvPr/>
        </p:nvSpPr>
        <p:spPr>
          <a:xfrm>
            <a:off x="365760" y="2788920"/>
            <a:ext cx="8229600" cy="9144"/>
          </a:xfrm>
          <a:prstGeom prst="rect">
            <a:avLst/>
          </a:prstGeom>
          <a:solidFill>
            <a:srgbClr val="CCCCCC"/>
          </a:solidFill>
          <a:ln/>
        </p:spPr>
      </p:sp>
      <p:sp>
        <p:nvSpPr>
          <p:cNvPr id="8" name="Text 6"/>
          <p:cNvSpPr/>
          <p:nvPr/>
        </p:nvSpPr>
        <p:spPr>
          <a:xfrm>
            <a:off x="365760" y="2907792"/>
            <a:ext cx="1463040" cy="256032"/>
          </a:xfrm>
          <a:prstGeom prst="rect">
            <a:avLst/>
          </a:prstGeom>
          <a:noFill/>
          <a:ln/>
        </p:spPr>
        <p:txBody>
          <a:bodyPr wrap="square" rtlCol="0" anchor="ctr"/>
          <a:lstStyle/>
          <a:p>
            <a:pPr marL="0" indent="0">
              <a:buNone/>
            </a:pPr>
            <a:r>
              <a:rPr lang="en-US" sz="950" b="1" dirty="0">
                <a:solidFill>
                  <a:srgbClr val="666666"/>
                </a:solidFill>
              </a:rPr>
              <a:t>Name:</a:t>
            </a:r>
            <a:endParaRPr lang="en-US" sz="950" dirty="0"/>
          </a:p>
        </p:txBody>
      </p:sp>
      <p:sp>
        <p:nvSpPr>
          <p:cNvPr id="9" name="Text 7"/>
          <p:cNvSpPr/>
          <p:nvPr/>
        </p:nvSpPr>
        <p:spPr>
          <a:xfrm>
            <a:off x="1920240" y="2907792"/>
            <a:ext cx="6858000" cy="256032"/>
          </a:xfrm>
          <a:prstGeom prst="rect">
            <a:avLst/>
          </a:prstGeom>
          <a:noFill/>
          <a:ln/>
        </p:spPr>
        <p:txBody>
          <a:bodyPr wrap="square" rtlCol="0" anchor="ctr"/>
          <a:lstStyle/>
          <a:p>
            <a:pPr marL="0" indent="0">
              <a:buNone/>
            </a:pPr>
            <a:r>
              <a:rPr lang="en-US" sz="950" dirty="0">
                <a:solidFill>
                  <a:srgbClr val="444444"/>
                </a:solidFill>
              </a:rPr>
              <a:t>Pritesh Raj</a:t>
            </a:r>
            <a:endParaRPr lang="en-US" sz="950" dirty="0"/>
          </a:p>
        </p:txBody>
      </p:sp>
      <p:sp>
        <p:nvSpPr>
          <p:cNvPr id="10" name="Text 8"/>
          <p:cNvSpPr/>
          <p:nvPr/>
        </p:nvSpPr>
        <p:spPr>
          <a:xfrm>
            <a:off x="365760" y="3191256"/>
            <a:ext cx="1463040" cy="256032"/>
          </a:xfrm>
          <a:prstGeom prst="rect">
            <a:avLst/>
          </a:prstGeom>
          <a:noFill/>
          <a:ln/>
        </p:spPr>
        <p:txBody>
          <a:bodyPr wrap="square" rtlCol="0" anchor="ctr"/>
          <a:lstStyle/>
          <a:p>
            <a:pPr marL="0" indent="0">
              <a:buNone/>
            </a:pPr>
            <a:r>
              <a:rPr lang="en-US" sz="950" b="1" dirty="0">
                <a:solidFill>
                  <a:srgbClr val="666666"/>
                </a:solidFill>
              </a:rPr>
              <a:t>Roll No:</a:t>
            </a:r>
            <a:endParaRPr lang="en-US" sz="950" dirty="0"/>
          </a:p>
        </p:txBody>
      </p:sp>
      <p:sp>
        <p:nvSpPr>
          <p:cNvPr id="11" name="Text 9"/>
          <p:cNvSpPr/>
          <p:nvPr/>
        </p:nvSpPr>
        <p:spPr>
          <a:xfrm>
            <a:off x="1920240" y="3191256"/>
            <a:ext cx="6858000" cy="256032"/>
          </a:xfrm>
          <a:prstGeom prst="rect">
            <a:avLst/>
          </a:prstGeom>
          <a:noFill/>
          <a:ln/>
        </p:spPr>
        <p:txBody>
          <a:bodyPr wrap="square" rtlCol="0" anchor="ctr"/>
          <a:lstStyle/>
          <a:p>
            <a:pPr marL="0" indent="0">
              <a:buNone/>
            </a:pPr>
            <a:r>
              <a:rPr lang="en-US" sz="950" dirty="0">
                <a:solidFill>
                  <a:srgbClr val="444444"/>
                </a:solidFill>
              </a:rPr>
              <a:t>230103035</a:t>
            </a:r>
            <a:endParaRPr lang="en-US" sz="950" dirty="0"/>
          </a:p>
        </p:txBody>
      </p:sp>
      <p:sp>
        <p:nvSpPr>
          <p:cNvPr id="12" name="Text 10"/>
          <p:cNvSpPr/>
          <p:nvPr/>
        </p:nvSpPr>
        <p:spPr>
          <a:xfrm>
            <a:off x="365760" y="3474720"/>
            <a:ext cx="1463040" cy="256032"/>
          </a:xfrm>
          <a:prstGeom prst="rect">
            <a:avLst/>
          </a:prstGeom>
          <a:noFill/>
          <a:ln/>
        </p:spPr>
        <p:txBody>
          <a:bodyPr wrap="square" rtlCol="0" anchor="ctr"/>
          <a:lstStyle/>
          <a:p>
            <a:pPr marL="0" indent="0">
              <a:buNone/>
            </a:pPr>
            <a:r>
              <a:rPr lang="en-US" sz="950" b="1" dirty="0">
                <a:solidFill>
                  <a:srgbClr val="666666"/>
                </a:solidFill>
              </a:rPr>
              <a:t>Department:</a:t>
            </a:r>
            <a:endParaRPr lang="en-US" sz="950" dirty="0"/>
          </a:p>
        </p:txBody>
      </p:sp>
      <p:sp>
        <p:nvSpPr>
          <p:cNvPr id="13" name="Text 11"/>
          <p:cNvSpPr/>
          <p:nvPr/>
        </p:nvSpPr>
        <p:spPr>
          <a:xfrm>
            <a:off x="1920240" y="3474720"/>
            <a:ext cx="6858000" cy="256032"/>
          </a:xfrm>
          <a:prstGeom prst="rect">
            <a:avLst/>
          </a:prstGeom>
          <a:noFill/>
          <a:ln/>
        </p:spPr>
        <p:txBody>
          <a:bodyPr wrap="square" rtlCol="0" anchor="ctr"/>
          <a:lstStyle/>
          <a:p>
            <a:pPr marL="0" indent="0">
              <a:buNone/>
            </a:pPr>
            <a:r>
              <a:rPr lang="en-US" sz="950" dirty="0">
                <a:solidFill>
                  <a:srgbClr val="444444"/>
                </a:solidFill>
              </a:rPr>
              <a:t>CSE — Artificial Intelligence &amp; Data Science</a:t>
            </a:r>
            <a:endParaRPr lang="en-US" sz="950" dirty="0"/>
          </a:p>
        </p:txBody>
      </p:sp>
      <p:sp>
        <p:nvSpPr>
          <p:cNvPr id="14" name="Text 12"/>
          <p:cNvSpPr/>
          <p:nvPr/>
        </p:nvSpPr>
        <p:spPr>
          <a:xfrm>
            <a:off x="365760" y="3758184"/>
            <a:ext cx="1463040" cy="256032"/>
          </a:xfrm>
          <a:prstGeom prst="rect">
            <a:avLst/>
          </a:prstGeom>
          <a:noFill/>
          <a:ln/>
        </p:spPr>
        <p:txBody>
          <a:bodyPr wrap="square" rtlCol="0" anchor="ctr"/>
          <a:lstStyle/>
          <a:p>
            <a:pPr marL="0" indent="0">
              <a:buNone/>
            </a:pPr>
            <a:r>
              <a:rPr lang="en-US" sz="950" b="1" dirty="0">
                <a:solidFill>
                  <a:srgbClr val="666666"/>
                </a:solidFill>
              </a:rPr>
              <a:t>Semester:</a:t>
            </a:r>
            <a:endParaRPr lang="en-US" sz="950" dirty="0"/>
          </a:p>
        </p:txBody>
      </p:sp>
      <p:sp>
        <p:nvSpPr>
          <p:cNvPr id="15" name="Text 13"/>
          <p:cNvSpPr/>
          <p:nvPr/>
        </p:nvSpPr>
        <p:spPr>
          <a:xfrm>
            <a:off x="1920240" y="3758184"/>
            <a:ext cx="6858000" cy="256032"/>
          </a:xfrm>
          <a:prstGeom prst="rect">
            <a:avLst/>
          </a:prstGeom>
          <a:noFill/>
          <a:ln/>
        </p:spPr>
        <p:txBody>
          <a:bodyPr wrap="square" rtlCol="0" anchor="ctr"/>
          <a:lstStyle/>
          <a:p>
            <a:pPr marL="0" indent="0">
              <a:buNone/>
            </a:pPr>
            <a:r>
              <a:rPr lang="en-US" sz="950" dirty="0">
                <a:solidFill>
                  <a:srgbClr val="444444"/>
                </a:solidFill>
              </a:rPr>
              <a:t>6th Semester  |  Batch 2023-2027</a:t>
            </a:r>
            <a:endParaRPr lang="en-US" sz="950" dirty="0"/>
          </a:p>
        </p:txBody>
      </p:sp>
      <p:sp>
        <p:nvSpPr>
          <p:cNvPr id="16" name="Text 14"/>
          <p:cNvSpPr/>
          <p:nvPr/>
        </p:nvSpPr>
        <p:spPr>
          <a:xfrm>
            <a:off x="365760" y="4041648"/>
            <a:ext cx="1463040" cy="256032"/>
          </a:xfrm>
          <a:prstGeom prst="rect">
            <a:avLst/>
          </a:prstGeom>
          <a:noFill/>
          <a:ln/>
        </p:spPr>
        <p:txBody>
          <a:bodyPr wrap="square" rtlCol="0" anchor="ctr"/>
          <a:lstStyle/>
          <a:p>
            <a:pPr marL="0" indent="0">
              <a:buNone/>
            </a:pPr>
            <a:r>
              <a:rPr lang="en-US" sz="950" b="1" dirty="0">
                <a:solidFill>
                  <a:srgbClr val="666666"/>
                </a:solidFill>
              </a:rPr>
              <a:t>Supervisor:</a:t>
            </a:r>
            <a:endParaRPr lang="en-US" sz="950" dirty="0"/>
          </a:p>
        </p:txBody>
      </p:sp>
      <p:sp>
        <p:nvSpPr>
          <p:cNvPr id="17" name="Text 15"/>
          <p:cNvSpPr/>
          <p:nvPr/>
        </p:nvSpPr>
        <p:spPr>
          <a:xfrm>
            <a:off x="1920240" y="4041648"/>
            <a:ext cx="6858000" cy="256032"/>
          </a:xfrm>
          <a:prstGeom prst="rect">
            <a:avLst/>
          </a:prstGeom>
          <a:noFill/>
          <a:ln/>
        </p:spPr>
        <p:txBody>
          <a:bodyPr wrap="square" rtlCol="0" anchor="ctr"/>
          <a:lstStyle/>
          <a:p>
            <a:pPr marL="0" indent="0">
              <a:buNone/>
            </a:pPr>
            <a:r>
              <a:rPr lang="en-US" sz="950" dirty="0">
                <a:solidFill>
                  <a:srgbClr val="444444"/>
                </a:solidFill>
              </a:rPr>
              <a:t>Dr. Nongmeikapam Kishorjit Singh</a:t>
            </a:r>
            <a:endParaRPr lang="en-US" sz="950" dirty="0"/>
          </a:p>
        </p:txBody>
      </p:sp>
      <p:sp>
        <p:nvSpPr>
          <p:cNvPr id="18" name="Text 16"/>
          <p:cNvSpPr/>
          <p:nvPr/>
        </p:nvSpPr>
        <p:spPr>
          <a:xfrm>
            <a:off x="365760" y="4325112"/>
            <a:ext cx="1463040" cy="256032"/>
          </a:xfrm>
          <a:prstGeom prst="rect">
            <a:avLst/>
          </a:prstGeom>
          <a:noFill/>
          <a:ln/>
        </p:spPr>
        <p:txBody>
          <a:bodyPr wrap="square" rtlCol="0" anchor="ctr"/>
          <a:lstStyle/>
          <a:p>
            <a:pPr marL="0" indent="0">
              <a:buNone/>
            </a:pPr>
            <a:r>
              <a:rPr lang="en-US" sz="950" b="1" dirty="0">
                <a:solidFill>
                  <a:srgbClr val="666666"/>
                </a:solidFill>
              </a:rPr>
              <a:t>College:</a:t>
            </a:r>
            <a:endParaRPr lang="en-US" sz="950" dirty="0"/>
          </a:p>
        </p:txBody>
      </p:sp>
      <p:sp>
        <p:nvSpPr>
          <p:cNvPr id="19" name="Text 17"/>
          <p:cNvSpPr/>
          <p:nvPr/>
        </p:nvSpPr>
        <p:spPr>
          <a:xfrm>
            <a:off x="1920240" y="4325112"/>
            <a:ext cx="6858000" cy="256032"/>
          </a:xfrm>
          <a:prstGeom prst="rect">
            <a:avLst/>
          </a:prstGeom>
          <a:noFill/>
          <a:ln/>
        </p:spPr>
        <p:txBody>
          <a:bodyPr wrap="square" rtlCol="0" anchor="ctr"/>
          <a:lstStyle/>
          <a:p>
            <a:pPr marL="0" indent="0">
              <a:buNone/>
            </a:pPr>
            <a:r>
              <a:rPr lang="en-US" sz="950" dirty="0">
                <a:solidFill>
                  <a:srgbClr val="444444"/>
                </a:solidFill>
              </a:rPr>
              <a:t>IIIT Senapati, Manipur</a:t>
            </a:r>
            <a:endParaRPr lang="en-US" sz="950" dirty="0"/>
          </a:p>
        </p:txBody>
      </p:sp>
      <p:sp>
        <p:nvSpPr>
          <p:cNvPr id="20" name="Text 18"/>
          <p:cNvSpPr/>
          <p:nvPr/>
        </p:nvSpPr>
        <p:spPr>
          <a:xfrm>
            <a:off x="0" y="4846320"/>
            <a:ext cx="9144000" cy="297180"/>
          </a:xfrm>
          <a:prstGeom prst="rect">
            <a:avLst/>
          </a:prstGeom>
          <a:noFill/>
          <a:ln/>
        </p:spPr>
        <p:txBody>
          <a:bodyPr wrap="square" rtlCol="0" anchor="ctr"/>
          <a:lstStyle/>
          <a:p>
            <a:pPr marL="0" indent="0" algn="ctr">
              <a:buNone/>
            </a:pPr>
            <a:r>
              <a:rPr lang="en-US" sz="800" dirty="0">
                <a:solidFill>
                  <a:srgbClr val="FFFFFF"/>
                </a:solidFill>
              </a:rPr>
              <a:t>Pritesh Raj  |  230103035  |  B.Tech CSE (AI &amp; DS)  |  IIIT Senapati, Manipur</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1111</Words>
  <Application>Microsoft Office PowerPoint</Application>
  <PresentationFormat>On-screen Show (16:9)</PresentationFormat>
  <Paragraphs>182</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Pritesh Raj</cp:lastModifiedBy>
  <cp:revision>2</cp:revision>
  <dcterms:created xsi:type="dcterms:W3CDTF">2026-04-29T17:08:19Z</dcterms:created>
  <dcterms:modified xsi:type="dcterms:W3CDTF">2026-04-30T04:27:59Z</dcterms:modified>
</cp:coreProperties>
</file>