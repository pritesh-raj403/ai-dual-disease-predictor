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A52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LR</c:v>
                  </c:pt>
                  <c:pt idx="1">
                    <c:v>RF</c:v>
                  </c:pt>
                  <c:pt idx="2">
                    <c:v>SVM</c:v>
                  </c:pt>
                  <c:pt idx="3">
                    <c:v>KNN</c:v>
                  </c:pt>
                  <c:pt idx="4">
                    <c:v>XGBoost★</c:v>
                  </c:pt>
                  <c:pt idx="5">
                    <c:v>GB</c:v>
                  </c:pt>
                  <c:pt idx="6">
                    <c:v>Ensemble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71.43</c:v>
                </c:pt>
                <c:pt idx="1">
                  <c:v>74.68</c:v>
                </c:pt>
                <c:pt idx="2">
                  <c:v>72.73</c:v>
                </c:pt>
                <c:pt idx="3">
                  <c:v>68.83</c:v>
                </c:pt>
                <c:pt idx="4">
                  <c:v>76.62</c:v>
                </c:pt>
                <c:pt idx="5">
                  <c:v>74.68</c:v>
                </c:pt>
                <c:pt idx="6">
                  <c:v>75.97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2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922B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22B2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22B2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22B2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22B2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22B2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22B2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LR</c:v>
                  </c:pt>
                  <c:pt idx="1">
                    <c:v>RF</c:v>
                  </c:pt>
                  <c:pt idx="2">
                    <c:v>SVM</c:v>
                  </c:pt>
                  <c:pt idx="3">
                    <c:v>KNN</c:v>
                  </c:pt>
                  <c:pt idx="4">
                    <c:v>XGBoost★</c:v>
                  </c:pt>
                  <c:pt idx="5">
                    <c:v>GB</c:v>
                  </c:pt>
                  <c:pt idx="6">
                    <c:v>Ensemble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66.98</c:v>
                </c:pt>
                <c:pt idx="1">
                  <c:v>73.58</c:v>
                </c:pt>
                <c:pt idx="2">
                  <c:v>68.75</c:v>
                </c:pt>
                <c:pt idx="3">
                  <c:v>61.32</c:v>
                </c:pt>
                <c:pt idx="4">
                  <c:v>81.37</c:v>
                </c:pt>
                <c:pt idx="5">
                  <c:v>80.31</c:v>
                </c:pt>
                <c:pt idx="6">
                  <c:v>75.24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5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081230"/>
          </a:solidFill>
          <a:ln/>
        </p:spPr>
      </p:sp>
      <p:sp>
        <p:nvSpPr>
          <p:cNvPr id="3" name="Text 1"/>
          <p:cNvSpPr/>
          <p:nvPr/>
        </p:nvSpPr>
        <p:spPr>
          <a:xfrm>
            <a:off x="164592" y="2011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D3E8"/>
                </a:solidFill>
              </a:rPr>
              <a:t>IIIT Senapati, Manipur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82880" y="54864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AI-Powered
</a:t>
            </a:r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</a:rPr>
              <a:t>Dual Disease
</a:t>
            </a:r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Prediction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2286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DD3E8"/>
                </a:solidFill>
              </a:rPr>
              <a:t>Diabetes &amp; 10-Year CHD Risk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7DD3E8"/>
                </a:solidFill>
              </a:rPr>
              <a:t>Using Ensemble Learning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2880" y="2999232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31089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Submitted By
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Pritesh Raj  |  230103035
</a:t>
            </a:r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6th Sem  |  CSE (AI &amp; DS)
</a:t>
            </a:r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Supervisor
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Dr. Nongmeikapam Kishorjit Singh
</a:t>
            </a:r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HoD, Dept. of CSE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06240" y="182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We Built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60520" y="749808"/>
            <a:ext cx="4754880" cy="74980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60520" y="749808"/>
            <a:ext cx="82296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777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537M+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715000" y="8412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Adults with Diabetes Worldwide (IDF 2021)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60520" y="1664208"/>
            <a:ext cx="4754880" cy="74980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60520" y="1664208"/>
            <a:ext cx="82296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691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17.9M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715000" y="17556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Annual Deaths from Heart Disease (WHO)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60520" y="2578608"/>
            <a:ext cx="4754880" cy="74980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60520" y="2578608"/>
            <a:ext cx="82296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77M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715000" y="26700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Diabetic Individuals in India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60520" y="3566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Key Objectives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60520" y="39319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1.  Predict Diabetes &amp; 10-Year CHD risk in ONE unified system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2.  Compare 7 ML models — LR → XGBoost → Voting Ensemble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3.  Generate 0–100 Risk Score + personalised recommendations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4.  Deploy as interactive Streamlit web application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60520" y="489204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April 2026  |  B.Tech Project-I (CS3201)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Background &amp; Existing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Slide 2 of 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What Others Have Done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74320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16128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Sisodia &amp; Sisodia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(2018)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5727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✓  SVM on PIMA → 76.3%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9202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</a:rPr>
              <a:t>✗  Single disease only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18688" y="1078992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078992"/>
            <a:ext cx="27432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328416" y="116128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Nai-arun &amp; Moungmai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(2015)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28416" y="15727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✓  Random Forest → 77.6%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28416" y="19202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</a:rPr>
              <a:t>✗  No web deployment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63056" y="1078992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1078992"/>
            <a:ext cx="274320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272784" y="116128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Mohan et al.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(2019)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72784" y="15727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✓  Hybrid RF → 88.7% (Heart)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72784" y="19202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</a:rPr>
              <a:t>✗  No risk scoring system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578608"/>
            <a:ext cx="4160520" cy="2395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578608"/>
            <a:ext cx="4160520" cy="34747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59689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⚠️  Problems with Existing Work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2999232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1.  Single disease focus — no unified multi-disease system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2.  Only binary output (0/1) — no risk score or severity level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3.  No personalised health recommendations generated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4.  Limited model comparison — usually only 1–2 algorithms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578608"/>
            <a:ext cx="4160520" cy="2395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578608"/>
            <a:ext cx="4160520" cy="34747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59689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✅  Why Our Project is Needed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2999232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ONE system → Diabetes + CHD risk simultaneously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Intuitive 0–100 Risk Score with 3 severity levels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Personalised diet &amp; lifestyle recommendations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7 ML models rigorously compared (Accuracy + AUC)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Live Streamlit app with PDF report &amp; history tracking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Pritesh Raj  |  230103035  |  IIIT Senapati, Manipur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Proposed System &amp;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Slide 3 of 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System Pipeline (Data → Model → Deploy)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1536192" cy="1024128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11556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Raw Dataset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6032" y="1463040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</a:rPr>
              <a:t>PIMA 768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</a:rPr>
              <a:t>Framingham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</a:rPr>
              <a:t>4,240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92224" y="1536192"/>
            <a:ext cx="201168" cy="6400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0" name="Shape 8"/>
          <p:cNvSpPr/>
          <p:nvPr/>
        </p:nvSpPr>
        <p:spPr>
          <a:xfrm>
            <a:off x="1993392" y="1078992"/>
            <a:ext cx="1536192" cy="1024128"/>
          </a:xfrm>
          <a:prstGeom prst="rect">
            <a:avLst/>
          </a:prstGeom>
          <a:solidFill>
            <a:srgbClr val="117A65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93392" y="111556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Preprocessing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93392" y="1463040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</a:rPr>
              <a:t>Imputation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</a:rPr>
              <a:t>Scaling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</a:rPr>
              <a:t>Engineering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529584" y="1536192"/>
            <a:ext cx="201168" cy="6400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4" name="Shape 12"/>
          <p:cNvSpPr/>
          <p:nvPr/>
        </p:nvSpPr>
        <p:spPr>
          <a:xfrm>
            <a:off x="3730752" y="1078992"/>
            <a:ext cx="1536192" cy="1024128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30752" y="111556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SMOTE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30752" y="1463040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</a:rPr>
              <a:t>Balance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</a:rPr>
              <a:t>Classes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</a:rPr>
              <a:t>802/5,754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266944" y="1536192"/>
            <a:ext cx="201168" cy="6400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8" name="Shape 16"/>
          <p:cNvSpPr/>
          <p:nvPr/>
        </p:nvSpPr>
        <p:spPr>
          <a:xfrm>
            <a:off x="5468112" y="1078992"/>
            <a:ext cx="1536192" cy="1024128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68112" y="111556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Train 7 Models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68112" y="1463040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</a:rPr>
              <a:t>LR|RF|SVM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</a:rPr>
              <a:t>KNN|XGB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</a:rPr>
              <a:t>GB|Ensemble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004304" y="1536192"/>
            <a:ext cx="201168" cy="6400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2" name="Shape 20"/>
          <p:cNvSpPr/>
          <p:nvPr/>
        </p:nvSpPr>
        <p:spPr>
          <a:xfrm>
            <a:off x="7205472" y="1078992"/>
            <a:ext cx="1536192" cy="1024128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05472" y="111556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Best Model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05472" y="1463040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</a:rPr>
              <a:t>XGBoost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</a:rPr>
              <a:t>76.62%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</a:rPr>
              <a:t>81.37%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" y="2267712"/>
            <a:ext cx="2697480" cy="2688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2267712"/>
            <a:ext cx="269748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23408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B"/>
                </a:solidFill>
              </a:rPr>
              <a:t>🛠️  Tools &amp; Tech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7472" y="274320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</a:rPr>
              <a:t>▸  Python 3.x — Core language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</a:rPr>
              <a:t>▸  Scikit-learn — ML algorithms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</a:rPr>
              <a:t>▸  XGBoost — Best model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</a:rPr>
              <a:t>▸  SMOTE (imbalanced-learn)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</a:rPr>
              <a:t>▸  Pandas &amp; NumPy — Data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</a:rPr>
              <a:t>▸  Matplotlib/Seaborn — Viz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</a:rPr>
              <a:t>▸  Streamlit — Web app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</a:rPr>
              <a:t>▸  Pickle — Model saving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18688" y="2267712"/>
            <a:ext cx="2697480" cy="2688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18688" y="2267712"/>
            <a:ext cx="26974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3310128" y="23408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B"/>
                </a:solidFill>
              </a:rPr>
              <a:t>⚙️  How System Works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10128" y="2761488"/>
            <a:ext cx="658368" cy="310896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3" name="Text 31"/>
          <p:cNvSpPr/>
          <p:nvPr/>
        </p:nvSpPr>
        <p:spPr>
          <a:xfrm>
            <a:off x="3310128" y="276148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INPUT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005072" y="277977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User enters clinical parameters in web form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10128" y="3236976"/>
            <a:ext cx="658368" cy="310896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6" name="Text 34"/>
          <p:cNvSpPr/>
          <p:nvPr/>
        </p:nvSpPr>
        <p:spPr>
          <a:xfrm>
            <a:off x="3310128" y="323697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SCALE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005072" y="325526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StandardScaler normalises all input values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10128" y="3712464"/>
            <a:ext cx="658368" cy="310896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9" name="Text 37"/>
          <p:cNvSpPr/>
          <p:nvPr/>
        </p:nvSpPr>
        <p:spPr>
          <a:xfrm>
            <a:off x="3310128" y="3712464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PREDICT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005072" y="37307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XGBoost model generates probability score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10128" y="4187952"/>
            <a:ext cx="658368" cy="310896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2" name="Text 40"/>
          <p:cNvSpPr/>
          <p:nvPr/>
        </p:nvSpPr>
        <p:spPr>
          <a:xfrm>
            <a:off x="3310128" y="418795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SCORE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005072" y="420624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Probability converted to 0–100 Risk Score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310128" y="4663440"/>
            <a:ext cx="658368" cy="310896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5" name="Text 43"/>
          <p:cNvSpPr/>
          <p:nvPr/>
        </p:nvSpPr>
        <p:spPr>
          <a:xfrm>
            <a:off x="3310128" y="466344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OUTPUT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005072" y="468172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Risk level + personalised health advice shown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72200" y="2267712"/>
            <a:ext cx="2697480" cy="2688336"/>
          </a:xfrm>
          <a:prstGeom prst="rect">
            <a:avLst/>
          </a:prstGeom>
          <a:solidFill>
            <a:srgbClr val="0D1B4B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72200" y="2267712"/>
            <a:ext cx="26974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6263640" y="23408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⭐  Unique Features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263640" y="274320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</a:rPr>
              <a:t>★  Multi-disease in ONE app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</a:rPr>
              <a:t>★  Risk Score 0–100 system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</a:rPr>
              <a:t>★  Feature Engineering (4 new)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</a:rPr>
              <a:t>★  SMOTE class imbalance fix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</a:rPr>
              <a:t>★  7 ML models compared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</a:rPr>
              <a:t>★  ROC-AUC evaluation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</a:rPr>
              <a:t>★  PDF report download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</a:rPr>
              <a:t>★  History tracking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52" name="Text 5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Pritesh Raj  |  230103035  |  IIIT Senapati, Manipur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 &amp;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Slide 4 of 5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605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82296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804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B"/>
                </a:solidFill>
              </a:rPr>
              <a:t>PIMA Indians Diabetes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768 records  |  8 features  |  Target: Outcome (0/1)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749808"/>
            <a:ext cx="41605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49808"/>
            <a:ext cx="82296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804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B"/>
                </a:solidFill>
              </a:rPr>
              <a:t>Framingham Heart Study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4,240 records  |  15 features  |  Target: TenYearCHD (0/1)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164592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B"/>
                </a:solidFill>
              </a:rPr>
              <a:t>🩸 Diabetes — Model Accuracy</a:t>
            </a:r>
            <a:endParaRPr lang="en-US" sz="10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274320" y="1965960"/>
          <a:ext cx="4160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4709160" y="164592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B"/>
                </a:solidFill>
              </a:rPr>
              <a:t>❤️ Heart Disease — Model Accuracy</a:t>
            </a:r>
            <a:endParaRPr lang="en-US" sz="105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4709160" y="1965960"/>
          <a:ext cx="4160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Shape 13"/>
          <p:cNvSpPr/>
          <p:nvPr/>
        </p:nvSpPr>
        <p:spPr>
          <a:xfrm>
            <a:off x="274320" y="4370832"/>
            <a:ext cx="8595360" cy="502920"/>
          </a:xfrm>
          <a:prstGeom prst="rect">
            <a:avLst/>
          </a:prstGeom>
          <a:solidFill>
            <a:srgbClr val="0D1B4B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65760" y="43708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🔑 Key Finding: Engineered feature 'age_risk' (importance = 0.218) is the TOP predictor — validating our feature engineering approach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0" name="Text 1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Pritesh Raj  |  230103035  |  IIIT Senapati, Manipur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5943600" cy="59436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1645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✅  Work Accomplished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1148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BEE3F8"/>
                </a:solidFill>
              </a:rPr>
              <a:t>✓  Built unified Multi-Disease Predictor (Diabetes + CHD)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BEE3F8"/>
                </a:solidFill>
              </a:rPr>
              <a:t>✓  Trained &amp; compared 7 ML algorithms per disease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BEE3F8"/>
                </a:solidFill>
              </a:rPr>
              <a:t>✓  XGBoost: 76.62% (Diabetes) &amp; 81.37% (Heart Disease)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BEE3F8"/>
                </a:solidFill>
              </a:rPr>
              <a:t>✓  4 clinically meaningful engineered features added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BEE3F8"/>
                </a:solidFill>
              </a:rPr>
              <a:t>✓  SMOTE resolved class imbalance in both datasets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BEE3F8"/>
                </a:solidFill>
              </a:rPr>
              <a:t>✓  Streamlit web app with risk scoring, PDF download &amp; history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5488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🚀  Future Scope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0" y="1234440"/>
            <a:ext cx="41148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BEE3F8"/>
                </a:solidFill>
              </a:rPr>
              <a:t>→  Add more diseases — kidney, stroke, cancer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BEE3F8"/>
                </a:solidFill>
              </a:rPr>
              <a:t>→  Deep Learning (LSTM/CNN) for better accuracy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BEE3F8"/>
                </a:solidFill>
              </a:rPr>
              <a:t>→  SHAP values for Explainable AI predictions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BEE3F8"/>
                </a:solidFill>
              </a:rPr>
              <a:t>→  Cloud deployment (Streamlit Cloud / AWS)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BEE3F8"/>
                </a:solidFill>
              </a:rPr>
              <a:t>→  Mobile app (React Native) for wider access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BEE3F8"/>
                </a:solidFill>
              </a:rPr>
              <a:t>→  Electronic Health Record (EHR) integration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3675888"/>
            <a:ext cx="841248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3675888"/>
            <a:ext cx="9144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712464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Project Outcome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4023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This project demonstrates that ensemble ML models trained on clinical data can be effectively packaged into an accessible multi-disease health risk prediction system, bridging the gap between academic ML research and practical healthcare decision support.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81230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Pritesh Raj  |  230103035  |  B.Tech CSE (AI &amp; DS)  |  IIIT Senapati, Manipur  |  April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Dual Disease Prediction System</dc:title>
  <dc:subject>PptxGenJS Presentation</dc:subject>
  <dc:creator>Pritesh Raj</dc:creator>
  <cp:lastModifiedBy>Pritesh Raj</cp:lastModifiedBy>
  <cp:revision>1</cp:revision>
  <dcterms:created xsi:type="dcterms:W3CDTF">2026-04-27T17:13:38Z</dcterms:created>
  <dcterms:modified xsi:type="dcterms:W3CDTF">2026-04-27T17:13:38Z</dcterms:modified>
</cp:coreProperties>
</file>